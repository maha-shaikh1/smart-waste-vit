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82A5A08-9A9C-0566-E864-C5EBFA2CED99}">
          <p14:sldIdLst>
            <p14:sldId id="256"/>
            <p14:sldId id="257"/>
            <p14:sldId id="258"/>
          </p14:sldIdLst>
        </p14:section>
        <p14:section name="Process" id="{6F5CF4BA-A67B-6428-B21B-61E2E614A34E}">
          <p14:sldIdLst>
            <p14:sldId id="259"/>
            <p14:sldId id="260"/>
            <p14:sldId id="261"/>
            <p14:sldId id="262"/>
          </p14:sldIdLst>
        </p14:section>
        <p14:section name="Results" id="{DDE3DFCC-A966-C7E7-40C2-2ABDDFF9AF2A}">
          <p14:sldIdLst>
            <p14:sldId id="263"/>
            <p14:sldId id="264"/>
            <p14:sldId id="265"/>
          </p14:sldIdLst>
        </p14:section>
        <p14:section name="Conclusion" id="{07AE418C-81D9-CFA7-2F89-1524E2705A38}">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988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My project is about teaching an AI model to look at a photo of waste and tell which bin it belongs to – and more importantly, checking whether we can trust it when the item is hazardous.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waste classification simply means: you give the system a photo, it tells you the bin. I used four bins. The model is a Vision Transformer, and instead of training from zero, I took Google's pretrained version and fine-tuned it on waste photos – that is called transfer learning.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mistake costs the same. If the model confuses paper and plastic, nothing bad happens. If it says a battery is recyclable, that battery can start a fire. So my research question is not just how accurate the model is, but what kind of errors it makes on hazardous items.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about two thousand real photos in four classes. I picked it because it actually has a hazardous class – batteries, e-waste, paints and pesticides. It is not perfect: it is small, uneven, and the photos are cleaner than real rubbish. I come back to that in the limitations.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was mostly about being careful. The most important step was removing duplicate photos before splitting – otherwise the same image could appear in training and testing and make the results look better than they are. Augmentation was only applied to training images.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Vision Transformer treats an image like a sentence. It cuts the photo into 196 small patches, turns each patch into a list of numbers, and self-attention lets every patch look at every other patch. I used Google's pretrained ViT and only replaced the final layer so it outputs four classes.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took about five minutes on a free Colab GPU. I trained for five epochs and checked the validation set after each one. The best was epoch three – after that the model started memorising the training set, so I used the epoch-three version for all the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269 test images the model got 92.6 percent right. But the number I care about is in orange: 59 hazardous items, 53 caught, 6 missed. The confusion matrix shows where every mistake went – the orange boxes are the hazardous items that ended up in the wrong bin.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closer: batteries and pesticides were all caught. The misses were paints and e-waste – things that physically look like ordinary packaging. Four of the six misses had low confidence, so a simple rule – if the model is unsure, send it to a human – would have caught most of them. I also tested blurred, dark and compressed versions of the same photos; the drop was small, at most two points.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can run the demo. Upload a photo, and it shows the class, the confidence and what to do with it. If you upload something outside the four classes, like this tyre, the model is unsure and flags it for a human – which is exactly the behaviour I want.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limits. The data is clean product photos. The hazardous class covers only four item types. And a ten percent miss rate on hazardous items is too high for a machine to decide alone – it should assist a human sorter, with a conservative rule: when unsure, treat it as hazardous.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 fine-tuned Vision Transformer is a strong waste classifier on clean images, but it still misses about one in ten hazardous items. So it is reliable enough to help a human, not to replace one. The most useful next step is to make it deliberately cautious on the hazardous class.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63040"/>
            <a:ext cx="7863840" cy="1280160"/>
          </a:xfrm>
          <a:prstGeom prst="rect">
            <a:avLst/>
          </a:prstGeom>
          <a:noFill/>
          <a:ln/>
        </p:spPr>
        <p:txBody>
          <a:bodyPr wrap="square" rtlCol="0"/>
          <a:lstStyle>
            <a:lvl1pPr marL="0" indent="0">
              <a:buNone/>
              <a:defRPr lang="en-US" sz="3800" b="1" dirty="0">
                <a:solidFill>
                  <a:schemeClr val="bg1"/>
                </a:solidFill>
              </a:defRPr>
            </a:lvl1pPr>
          </a:lstStyle>
          <a:p>
            <a:pPr marL="0" indent="0">
              <a:buNone/>
            </a:pPr>
            <a:endParaRPr lang="en-US" sz="3800" dirty="0"/>
          </a:p>
        </p:txBody>
      </p:sp>
      <p:sp>
        <p:nvSpPr>
          <p:cNvPr id="3" name="Text 0"/>
          <p:cNvSpPr>
            <a:spLocks noGrp="1"/>
          </p:cNvSpPr>
          <p:nvPr>
            <p:ph type="body" idx="101" hasCustomPrompt="1"/>
          </p:nvPr>
        </p:nvSpPr>
        <p:spPr>
          <a:xfrm>
            <a:off x="640080" y="2880360"/>
            <a:ext cx="7863840" cy="1463040"/>
          </a:xfrm>
          <a:prstGeom prst="rect">
            <a:avLst/>
          </a:prstGeom>
          <a:noFill/>
          <a:ln/>
        </p:spPr>
        <p:txBody>
          <a:bodyPr wrap="square" rtlCol="0"/>
          <a:lstStyle>
            <a:lvl1pPr marL="0" indent="0">
              <a:buNone/>
              <a:defRPr lang="en-US" sz="1600" dirty="0">
                <a:solidFill>
                  <a:schemeClr val="accent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
        <p:nvSpPr>
          <p:cNvPr id="3" name="Text 0"/>
          <p:cNvSpPr/>
          <p:nvPr/>
        </p:nvSpPr>
        <p:spPr>
          <a:xfrm>
            <a:off x="457200" y="4800600"/>
            <a:ext cx="6400800" cy="274320"/>
          </a:xfrm>
          <a:prstGeom prst="rect">
            <a:avLst/>
          </a:prstGeom>
          <a:noFill/>
          <a:ln/>
        </p:spPr>
        <p:txBody>
          <a:bodyPr wrap="square" lIns="0" tIns="0" rIns="0" bIns="0" rtlCol="0" anchor="ctr"/>
          <a:lstStyle/>
          <a:p>
            <a:pPr marL="0" indent="0">
              <a:buNone/>
            </a:pPr>
            <a:r>
              <a:rPr lang="en-US" sz="900" dirty="0">
                <a:solidFill>
                  <a:schemeClr val="accent6"/>
                </a:solidFill>
              </a:rPr>
              <a:t>Smart Waste Classification with ViT  ·  Shaikh Maha  ·  MAAI901</a:t>
            </a:r>
            <a:endParaRPr lang="en-US" sz="9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63040"/>
            <a:ext cx="7863840" cy="1280160"/>
          </a:xfrm>
          <a:prstGeom prst="rect">
            <a:avLst/>
          </a:prstGeom>
          <a:noFill/>
          <a:ln/>
        </p:spPr>
        <p:txBody>
          <a:bodyPr wrap="square" lIns="0" tIns="0" rIns="0" bIns="0" rtlCol="0" anchor="b"/>
          <a:lstStyle/>
          <a:p>
            <a:pPr marL="0" indent="0">
              <a:buNone/>
            </a:pPr>
            <a:r>
              <a:rPr lang="en-US" sz="3800" b="1" dirty="0">
                <a:solidFill>
                  <a:schemeClr val="bg1"/>
                </a:solidFill>
              </a:rPr>
              <a:t>Smart Waste Classification Using Vision Transformers</a:t>
            </a:r>
            <a:endParaRPr lang="en-US" sz="3800" dirty="0"/>
          </a:p>
        </p:txBody>
      </p:sp>
      <p:sp>
        <p:nvSpPr>
          <p:cNvPr id="3" name="Text 0"/>
          <p:cNvSpPr>
            <a:spLocks noGrp="1"/>
          </p:cNvSpPr>
          <p:nvPr>
            <p:ph type="body" idx="101" hasCustomPrompt="1"/>
          </p:nvPr>
        </p:nvSpPr>
        <p:spPr>
          <a:xfrm>
            <a:off x="640080" y="3232052"/>
            <a:ext cx="7863840" cy="1463040"/>
          </a:xfrm>
          <a:prstGeom prst="rect">
            <a:avLst/>
          </a:prstGeom>
          <a:noFill/>
          <a:ln/>
        </p:spPr>
        <p:txBody>
          <a:bodyPr wrap="square" lIns="0" tIns="0" rIns="0" bIns="0" rtlCol="0"/>
          <a:lstStyle/>
          <a:p>
            <a:pPr marL="0" indent="0">
              <a:buNone/>
            </a:pPr>
            <a:r>
              <a:rPr lang="en-US" sz="1800" dirty="0">
                <a:solidFill>
                  <a:schemeClr val="accent2"/>
                </a:solidFill>
              </a:rPr>
              <a:t>Evaluating hazardous-waste detection and classification reliability</a:t>
            </a:r>
            <a:endParaRPr lang="en-US" sz="1600" dirty="0"/>
          </a:p>
          <a:p>
            <a:pPr marL="0" indent="0">
              <a:buNone/>
            </a:pPr>
            <a:r>
              <a:rPr lang="en-US" sz="800" dirty="0">
                <a:solidFill>
                  <a:schemeClr val="accent2"/>
                </a:solidFill>
              </a:rPr>
              <a:t> </a:t>
            </a:r>
            <a:endParaRPr lang="en-US" sz="1600" dirty="0"/>
          </a:p>
          <a:p>
            <a:pPr marL="0" indent="0">
              <a:buNone/>
            </a:pPr>
            <a:r>
              <a:rPr lang="en-US" sz="1300" dirty="0">
                <a:solidFill>
                  <a:schemeClr val="accent5"/>
                </a:solidFill>
              </a:rPr>
              <a:t>Shaikh Maha (1560980)  </a:t>
            </a:r>
          </a:p>
          <a:p>
            <a:r>
              <a:rPr lang="en-US" sz="1300" dirty="0">
                <a:solidFill>
                  <a:schemeClr val="accent5"/>
                </a:solidFill>
              </a:rPr>
              <a:t> · MAAI901 Deep Learning for Visual Data  </a:t>
            </a:r>
          </a:p>
          <a:p>
            <a:r>
              <a:rPr lang="en-US" sz="1300" dirty="0">
                <a:solidFill>
                  <a:schemeClr val="accent5"/>
                </a:solidFill>
              </a:rPr>
              <a:t> · Dr. Milan </a:t>
            </a:r>
            <a:r>
              <a:rPr lang="en-US" sz="1300" dirty="0" err="1">
                <a:solidFill>
                  <a:schemeClr val="accent5"/>
                </a:solidFill>
              </a:rPr>
              <a:t>Dordevic</a:t>
            </a:r>
            <a:r>
              <a:rPr lang="en-US" sz="1300" dirty="0">
                <a:solidFill>
                  <a:schemeClr val="accent5"/>
                </a:solidFill>
              </a:rPr>
              <a:t> </a:t>
            </a:r>
          </a:p>
          <a:p>
            <a:pPr marL="0" indent="0">
              <a:buNone/>
            </a:pPr>
            <a:r>
              <a:rPr lang="en-US" sz="1300" dirty="0">
                <a:solidFill>
                  <a:schemeClr val="accent5"/>
                </a:solidFill>
              </a:rPr>
              <a:t> ·  27 October 2026</a:t>
            </a:r>
            <a:endParaRPr lang="en-US" sz="1600" dirty="0"/>
          </a:p>
        </p:txBody>
      </p:sp>
      <p:sp>
        <p:nvSpPr>
          <p:cNvPr id="4" name="Text 2"/>
          <p:cNvSpPr txBox="1"/>
          <p:nvPr/>
        </p:nvSpPr>
        <p:spPr>
          <a:xfrm>
            <a:off x="640080" y="548640"/>
            <a:ext cx="548640" cy="548640"/>
          </a:xfrm>
          <a:prstGeom prst="rect">
            <a:avLst/>
          </a:prstGeom>
          <a:noFill/>
          <a:ln/>
        </p:spPr>
        <p:txBody>
          <a:bodyPr wrap="square" lIns="0" tIns="0" rIns="0" bIns="0" rtlCol="0" anchor="ctr"/>
          <a:lstStyle/>
          <a:p>
            <a:pPr marL="0" indent="0" algn="ctr">
              <a:buNone/>
            </a:pPr>
            <a:r>
              <a:rPr lang="en-US" sz="2600" dirty="0">
                <a:solidFill>
                  <a:schemeClr val="accent2"/>
                </a:solidFill>
              </a:rPr>
              <a:t>♻</a:t>
            </a:r>
            <a:endParaRPr lang="en-US" sz="2600" dirty="0"/>
          </a:p>
        </p:txBody>
      </p:sp>
      <p:sp>
        <p:nvSpPr>
          <p:cNvPr id="5" name="Text 3"/>
          <p:cNvSpPr txBox="1"/>
          <p:nvPr/>
        </p:nvSpPr>
        <p:spPr>
          <a:xfrm>
            <a:off x="1280160" y="548640"/>
            <a:ext cx="548640" cy="548640"/>
          </a:xfrm>
          <a:prstGeom prst="rect">
            <a:avLst/>
          </a:prstGeom>
          <a:noFill/>
          <a:ln/>
        </p:spPr>
        <p:txBody>
          <a:bodyPr wrap="square" lIns="0" tIns="0" rIns="0" bIns="0" rtlCol="0" anchor="ctr"/>
          <a:lstStyle/>
          <a:p>
            <a:pPr marL="0" indent="0" algn="ctr">
              <a:buNone/>
            </a:pPr>
            <a:r>
              <a:rPr lang="en-US" sz="2600" dirty="0">
                <a:solidFill>
                  <a:schemeClr val="accent3"/>
                </a:solidFill>
              </a:rPr>
              <a:t>⚠</a:t>
            </a:r>
            <a:endParaRPr lang="en-US" sz="2600" dirty="0"/>
          </a:p>
        </p:txBody>
      </p:sp>
      <p:sp>
        <p:nvSpPr>
          <p:cNvPr id="6" name="Text 4"/>
          <p:cNvSpPr txBox="1"/>
          <p:nvPr/>
        </p:nvSpPr>
        <p:spPr>
          <a:xfrm>
            <a:off x="1920240" y="548640"/>
            <a:ext cx="548640" cy="548640"/>
          </a:xfrm>
          <a:prstGeom prst="rect">
            <a:avLst/>
          </a:prstGeom>
          <a:noFill/>
          <a:ln/>
        </p:spPr>
        <p:txBody>
          <a:bodyPr wrap="square" lIns="0" tIns="0" rIns="0" bIns="0" rtlCol="0" anchor="ctr"/>
          <a:lstStyle/>
          <a:p>
            <a:pPr marL="0" indent="0" algn="ctr">
              <a:buNone/>
            </a:pPr>
            <a:r>
              <a:rPr lang="en-US" sz="2600" dirty="0">
                <a:solidFill>
                  <a:schemeClr val="accent2"/>
                </a:solidFill>
              </a:rPr>
              <a:t>🌱</a:t>
            </a:r>
            <a:endParaRPr lang="en-US" sz="2600" dirty="0"/>
          </a:p>
        </p:txBody>
      </p:sp>
      <p:sp>
        <p:nvSpPr>
          <p:cNvPr id="7" name="Text 5"/>
          <p:cNvSpPr txBox="1"/>
          <p:nvPr/>
        </p:nvSpPr>
        <p:spPr>
          <a:xfrm>
            <a:off x="2560320" y="548640"/>
            <a:ext cx="548640" cy="548640"/>
          </a:xfrm>
          <a:prstGeom prst="rect">
            <a:avLst/>
          </a:prstGeom>
          <a:noFill/>
          <a:ln/>
        </p:spPr>
        <p:txBody>
          <a:bodyPr wrap="square" lIns="0" tIns="0" rIns="0" bIns="0" rtlCol="0" anchor="ctr"/>
          <a:lstStyle/>
          <a:p>
            <a:pPr marL="0" indent="0" algn="ctr">
              <a:buNone/>
            </a:pPr>
            <a:r>
              <a:rPr lang="en-US" sz="2600" dirty="0">
                <a:solidFill>
                  <a:schemeClr val="accent2"/>
                </a:solidFill>
              </a:rPr>
              <a: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What is Smart Waste Classification?</a:t>
            </a:r>
            <a:endParaRPr lang="en-US" sz="3000" dirty="0"/>
          </a:p>
        </p:txBody>
      </p:sp>
      <p:sp>
        <p:nvSpPr>
          <p:cNvPr id="3" name="Text 1"/>
          <p:cNvSpPr txBox="1"/>
          <p:nvPr/>
        </p:nvSpPr>
        <p:spPr>
          <a:xfrm>
            <a:off x="457200" y="1188720"/>
            <a:ext cx="4846320" cy="3474720"/>
          </a:xfrm>
          <a:prstGeom prst="rect">
            <a:avLst/>
          </a:prstGeom>
          <a:noFill/>
          <a:ln/>
        </p:spPr>
        <p:txBody>
          <a:bodyPr wrap="square" lIns="0" tIns="0" rIns="0" bIns="0" rtlCol="0" anchor="t"/>
          <a:lstStyle/>
          <a:p>
            <a:pPr marL="177800" indent="-177800">
              <a:spcAft>
                <a:spcPts val="900"/>
              </a:spcAft>
              <a:buSzPct val="100000"/>
              <a:buChar char="•"/>
            </a:pPr>
            <a:r>
              <a:rPr lang="en-US" sz="1450" dirty="0">
                <a:solidFill>
                  <a:schemeClr val="tx1"/>
                </a:solidFill>
              </a:rPr>
              <a:t>Take a photo of a waste item → the model says which bin it belongs to</a:t>
            </a:r>
            <a:endParaRPr lang="en-US" sz="1450" dirty="0"/>
          </a:p>
          <a:p>
            <a:pPr marL="177800" indent="-177800">
              <a:spcAft>
                <a:spcPts val="900"/>
              </a:spcAft>
              <a:buSzPct val="100000"/>
              <a:buChar char="•"/>
            </a:pPr>
            <a:r>
              <a:rPr lang="en-US" sz="1450" dirty="0">
                <a:solidFill>
                  <a:schemeClr val="tx1"/>
                </a:solidFill>
              </a:rPr>
              <a:t>Four bins: Hazardous (batteries, e-waste, paints, pesticides), Recyclable, Organic, Non-Recyclable</a:t>
            </a:r>
            <a:endParaRPr lang="en-US" sz="1450" dirty="0"/>
          </a:p>
          <a:p>
            <a:pPr marL="177800" indent="-177800">
              <a:spcAft>
                <a:spcPts val="900"/>
              </a:spcAft>
              <a:buSzPct val="100000"/>
              <a:buChar char="•"/>
            </a:pPr>
            <a:r>
              <a:rPr lang="en-US" sz="1450" dirty="0">
                <a:solidFill>
                  <a:schemeClr val="tx1"/>
                </a:solidFill>
              </a:rPr>
              <a:t>Why it matters: recycling plants sort mixed items on fast conveyor belts; people at home often guess wrong</a:t>
            </a:r>
            <a:endParaRPr lang="en-US" sz="1450" dirty="0"/>
          </a:p>
          <a:p>
            <a:pPr marL="177800" indent="-177800">
              <a:spcAft>
                <a:spcPts val="900"/>
              </a:spcAft>
              <a:buSzPct val="100000"/>
              <a:buChar char="•"/>
            </a:pPr>
            <a:r>
              <a:rPr lang="en-US" sz="1450" dirty="0">
                <a:solidFill>
                  <a:schemeClr val="tx1"/>
                </a:solidFill>
              </a:rPr>
              <a:t>The model: a Vision Transformer (ViT) – a deep-learning model that reads an image as a grid of small patches</a:t>
            </a:r>
            <a:endParaRPr lang="en-US" sz="1450" dirty="0"/>
          </a:p>
          <a:p>
            <a:pPr marL="177800" indent="-177800">
              <a:spcAft>
                <a:spcPts val="900"/>
              </a:spcAft>
              <a:buSzPct val="100000"/>
              <a:buChar char="•"/>
            </a:pPr>
            <a:r>
              <a:rPr lang="en-US" sz="1450" dirty="0">
                <a:solidFill>
                  <a:schemeClr val="tx1"/>
                </a:solidFill>
              </a:rPr>
              <a:t>I did not build the model from scratch – I took Google's pretrained ViT and fine-tuned it on waste photos</a:t>
            </a:r>
            <a:endParaRPr lang="en-US" sz="1450" dirty="0"/>
          </a:p>
        </p:txBody>
      </p:sp>
      <p:sp>
        <p:nvSpPr>
          <p:cNvPr id="4" name="Shape 2"/>
          <p:cNvSpPr/>
          <p:nvPr/>
        </p:nvSpPr>
        <p:spPr>
          <a:xfrm>
            <a:off x="5669280" y="1188720"/>
            <a:ext cx="3017520" cy="731520"/>
          </a:xfrm>
          <a:prstGeom prst="roundRect">
            <a:avLst>
              <a:gd name="adj" fmla="val 10000"/>
            </a:avLst>
          </a:prstGeom>
          <a:solidFill>
            <a:schemeClr val="bg2"/>
          </a:solidFill>
          <a:ln w="12700">
            <a:solidFill>
              <a:schemeClr val="bg2"/>
            </a:solidFill>
            <a:prstDash val="solid"/>
          </a:ln>
        </p:spPr>
        <p:txBody>
          <a:bodyPr/>
          <a:lstStyle/>
          <a:p>
            <a:endParaRPr lang="en-IN"/>
          </a:p>
        </p:txBody>
      </p:sp>
      <p:sp>
        <p:nvSpPr>
          <p:cNvPr id="5" name="Text 3"/>
          <p:cNvSpPr txBox="1"/>
          <p:nvPr/>
        </p:nvSpPr>
        <p:spPr>
          <a:xfrm>
            <a:off x="5760720" y="1188720"/>
            <a:ext cx="640080" cy="731520"/>
          </a:xfrm>
          <a:prstGeom prst="rect">
            <a:avLst/>
          </a:prstGeom>
          <a:noFill/>
          <a:ln/>
        </p:spPr>
        <p:txBody>
          <a:bodyPr wrap="square" lIns="0" tIns="0" rIns="0" bIns="0" rtlCol="0" anchor="ctr"/>
          <a:lstStyle/>
          <a:p>
            <a:pPr marL="0" indent="0" algn="ctr">
              <a:buNone/>
            </a:pPr>
            <a:r>
              <a:rPr lang="en-US" sz="2400" dirty="0">
                <a:solidFill>
                  <a:schemeClr val="accent3"/>
                </a:solidFill>
              </a:rPr>
              <a:t>⚠</a:t>
            </a:r>
            <a:endParaRPr lang="en-US" sz="2400" dirty="0"/>
          </a:p>
        </p:txBody>
      </p:sp>
      <p:sp>
        <p:nvSpPr>
          <p:cNvPr id="6" name="Text 4"/>
          <p:cNvSpPr txBox="1"/>
          <p:nvPr/>
        </p:nvSpPr>
        <p:spPr>
          <a:xfrm>
            <a:off x="6446520" y="1188720"/>
            <a:ext cx="2194560" cy="731520"/>
          </a:xfrm>
          <a:prstGeom prst="rect">
            <a:avLst/>
          </a:prstGeom>
          <a:noFill/>
          <a:ln/>
        </p:spPr>
        <p:txBody>
          <a:bodyPr wrap="square" lIns="0" tIns="0" rIns="0" bIns="0" rtlCol="0" anchor="ctr"/>
          <a:lstStyle/>
          <a:p>
            <a:pPr marL="0" indent="0">
              <a:buNone/>
            </a:pPr>
            <a:r>
              <a:rPr lang="en-US" sz="1500" b="1" dirty="0">
                <a:solidFill>
                  <a:schemeClr val="accent3"/>
                </a:solidFill>
              </a:rPr>
              <a:t>Hazardous</a:t>
            </a:r>
            <a:endParaRPr lang="en-US" sz="1500" dirty="0"/>
          </a:p>
        </p:txBody>
      </p:sp>
      <p:sp>
        <p:nvSpPr>
          <p:cNvPr id="7" name="Shape 5"/>
          <p:cNvSpPr/>
          <p:nvPr/>
        </p:nvSpPr>
        <p:spPr>
          <a:xfrm>
            <a:off x="5669280" y="2057400"/>
            <a:ext cx="3017520" cy="731520"/>
          </a:xfrm>
          <a:prstGeom prst="roundRect">
            <a:avLst>
              <a:gd name="adj" fmla="val 10000"/>
            </a:avLst>
          </a:prstGeom>
          <a:solidFill>
            <a:schemeClr val="bg2"/>
          </a:solidFill>
          <a:ln w="12700">
            <a:solidFill>
              <a:schemeClr val="bg2"/>
            </a:solidFill>
            <a:prstDash val="solid"/>
          </a:ln>
        </p:spPr>
        <p:txBody>
          <a:bodyPr/>
          <a:lstStyle/>
          <a:p>
            <a:endParaRPr lang="en-IN"/>
          </a:p>
        </p:txBody>
      </p:sp>
      <p:sp>
        <p:nvSpPr>
          <p:cNvPr id="8" name="Text 6"/>
          <p:cNvSpPr txBox="1"/>
          <p:nvPr/>
        </p:nvSpPr>
        <p:spPr>
          <a:xfrm>
            <a:off x="5760720" y="2057400"/>
            <a:ext cx="640080" cy="731520"/>
          </a:xfrm>
          <a:prstGeom prst="rect">
            <a:avLst/>
          </a:prstGeom>
          <a:noFill/>
          <a:ln/>
        </p:spPr>
        <p:txBody>
          <a:bodyPr wrap="square" lIns="0" tIns="0" rIns="0" bIns="0" rtlCol="0" anchor="ctr"/>
          <a:lstStyle/>
          <a:p>
            <a:pPr marL="0" indent="0" algn="ctr">
              <a:buNone/>
            </a:pPr>
            <a:r>
              <a:rPr lang="en-US" sz="2400" dirty="0">
                <a:solidFill>
                  <a:schemeClr val="accent1"/>
                </a:solidFill>
              </a:rPr>
              <a:t>♻</a:t>
            </a:r>
            <a:endParaRPr lang="en-US" sz="2400" dirty="0"/>
          </a:p>
        </p:txBody>
      </p:sp>
      <p:sp>
        <p:nvSpPr>
          <p:cNvPr id="9" name="Text 7"/>
          <p:cNvSpPr txBox="1"/>
          <p:nvPr/>
        </p:nvSpPr>
        <p:spPr>
          <a:xfrm>
            <a:off x="6446520" y="2057400"/>
            <a:ext cx="2194560" cy="731520"/>
          </a:xfrm>
          <a:prstGeom prst="rect">
            <a:avLst/>
          </a:prstGeom>
          <a:noFill/>
          <a:ln/>
        </p:spPr>
        <p:txBody>
          <a:bodyPr wrap="square" lIns="0" tIns="0" rIns="0" bIns="0" rtlCol="0" anchor="ctr"/>
          <a:lstStyle/>
          <a:p>
            <a:pPr marL="0" indent="0">
              <a:buNone/>
            </a:pPr>
            <a:r>
              <a:rPr lang="en-US" sz="1500" b="1" dirty="0">
                <a:solidFill>
                  <a:schemeClr val="accent1"/>
                </a:solidFill>
              </a:rPr>
              <a:t>Recyclable</a:t>
            </a:r>
            <a:endParaRPr lang="en-US" sz="1500" dirty="0"/>
          </a:p>
        </p:txBody>
      </p:sp>
      <p:sp>
        <p:nvSpPr>
          <p:cNvPr id="10" name="Shape 8"/>
          <p:cNvSpPr/>
          <p:nvPr/>
        </p:nvSpPr>
        <p:spPr>
          <a:xfrm>
            <a:off x="5669280" y="2926080"/>
            <a:ext cx="3017520" cy="731520"/>
          </a:xfrm>
          <a:prstGeom prst="roundRect">
            <a:avLst>
              <a:gd name="adj" fmla="val 10000"/>
            </a:avLst>
          </a:prstGeom>
          <a:solidFill>
            <a:schemeClr val="bg2"/>
          </a:solidFill>
          <a:ln w="12700">
            <a:solidFill>
              <a:schemeClr val="bg2"/>
            </a:solidFill>
            <a:prstDash val="solid"/>
          </a:ln>
        </p:spPr>
        <p:txBody>
          <a:bodyPr/>
          <a:lstStyle/>
          <a:p>
            <a:endParaRPr lang="en-IN"/>
          </a:p>
        </p:txBody>
      </p:sp>
      <p:sp>
        <p:nvSpPr>
          <p:cNvPr id="11" name="Text 9"/>
          <p:cNvSpPr txBox="1"/>
          <p:nvPr/>
        </p:nvSpPr>
        <p:spPr>
          <a:xfrm>
            <a:off x="5760720" y="2926080"/>
            <a:ext cx="640080" cy="731520"/>
          </a:xfrm>
          <a:prstGeom prst="rect">
            <a:avLst/>
          </a:prstGeom>
          <a:noFill/>
          <a:ln/>
        </p:spPr>
        <p:txBody>
          <a:bodyPr wrap="square" lIns="0" tIns="0" rIns="0" bIns="0" rtlCol="0" anchor="ctr"/>
          <a:lstStyle/>
          <a:p>
            <a:pPr marL="0" indent="0" algn="ctr">
              <a:buNone/>
            </a:pPr>
            <a:r>
              <a:rPr lang="en-US" sz="2400" dirty="0">
                <a:solidFill>
                  <a:schemeClr val="accent4"/>
                </a:solidFill>
              </a:rPr>
              <a:t>🌱</a:t>
            </a:r>
            <a:endParaRPr lang="en-US" sz="2400" dirty="0"/>
          </a:p>
        </p:txBody>
      </p:sp>
      <p:sp>
        <p:nvSpPr>
          <p:cNvPr id="12" name="Text 10"/>
          <p:cNvSpPr txBox="1"/>
          <p:nvPr/>
        </p:nvSpPr>
        <p:spPr>
          <a:xfrm>
            <a:off x="6446520" y="2926080"/>
            <a:ext cx="2194560" cy="731520"/>
          </a:xfrm>
          <a:prstGeom prst="rect">
            <a:avLst/>
          </a:prstGeom>
          <a:noFill/>
          <a:ln/>
        </p:spPr>
        <p:txBody>
          <a:bodyPr wrap="square" lIns="0" tIns="0" rIns="0" bIns="0" rtlCol="0" anchor="ctr"/>
          <a:lstStyle/>
          <a:p>
            <a:pPr marL="0" indent="0">
              <a:buNone/>
            </a:pPr>
            <a:r>
              <a:rPr lang="en-US" sz="1500" b="1" dirty="0">
                <a:solidFill>
                  <a:schemeClr val="accent4"/>
                </a:solidFill>
              </a:rPr>
              <a:t>Organic</a:t>
            </a:r>
            <a:endParaRPr lang="en-US" sz="1500" dirty="0"/>
          </a:p>
        </p:txBody>
      </p:sp>
      <p:sp>
        <p:nvSpPr>
          <p:cNvPr id="13" name="Shape 11"/>
          <p:cNvSpPr/>
          <p:nvPr/>
        </p:nvSpPr>
        <p:spPr>
          <a:xfrm>
            <a:off x="5669280" y="3794760"/>
            <a:ext cx="3017520" cy="731520"/>
          </a:xfrm>
          <a:prstGeom prst="roundRect">
            <a:avLst>
              <a:gd name="adj" fmla="val 10000"/>
            </a:avLst>
          </a:prstGeom>
          <a:solidFill>
            <a:schemeClr val="bg2"/>
          </a:solidFill>
          <a:ln w="12700">
            <a:solidFill>
              <a:schemeClr val="bg2"/>
            </a:solidFill>
            <a:prstDash val="solid"/>
          </a:ln>
        </p:spPr>
        <p:txBody>
          <a:bodyPr/>
          <a:lstStyle/>
          <a:p>
            <a:endParaRPr lang="en-IN"/>
          </a:p>
        </p:txBody>
      </p:sp>
      <p:sp>
        <p:nvSpPr>
          <p:cNvPr id="14" name="Text 12"/>
          <p:cNvSpPr txBox="1"/>
          <p:nvPr/>
        </p:nvSpPr>
        <p:spPr>
          <a:xfrm>
            <a:off x="5760720" y="3794760"/>
            <a:ext cx="640080" cy="731520"/>
          </a:xfrm>
          <a:prstGeom prst="rect">
            <a:avLst/>
          </a:prstGeom>
          <a:noFill/>
          <a:ln/>
        </p:spPr>
        <p:txBody>
          <a:bodyPr wrap="square" lIns="0" tIns="0" rIns="0" bIns="0" rtlCol="0" anchor="ctr"/>
          <a:lstStyle/>
          <a:p>
            <a:pPr marL="0" indent="0" algn="ctr">
              <a:buNone/>
            </a:pPr>
            <a:r>
              <a:rPr lang="en-US" sz="2400" dirty="0">
                <a:solidFill>
                  <a:schemeClr val="accent6"/>
                </a:solidFill>
              </a:rPr>
              <a:t>🗑</a:t>
            </a:r>
            <a:endParaRPr lang="en-US" sz="2400" dirty="0"/>
          </a:p>
        </p:txBody>
      </p:sp>
      <p:sp>
        <p:nvSpPr>
          <p:cNvPr id="15" name="Text 13"/>
          <p:cNvSpPr txBox="1"/>
          <p:nvPr/>
        </p:nvSpPr>
        <p:spPr>
          <a:xfrm>
            <a:off x="6446520" y="3794760"/>
            <a:ext cx="2194560" cy="731520"/>
          </a:xfrm>
          <a:prstGeom prst="rect">
            <a:avLst/>
          </a:prstGeom>
          <a:noFill/>
          <a:ln/>
        </p:spPr>
        <p:txBody>
          <a:bodyPr wrap="square" lIns="0" tIns="0" rIns="0" bIns="0" rtlCol="0" anchor="ctr"/>
          <a:lstStyle/>
          <a:p>
            <a:pPr marL="0" indent="0">
              <a:buNone/>
            </a:pPr>
            <a:r>
              <a:rPr lang="en-US" sz="1500" b="1" dirty="0">
                <a:solidFill>
                  <a:schemeClr val="accent6"/>
                </a:solidFill>
              </a:rPr>
              <a:t>Non-Recyclable</a:t>
            </a:r>
            <a:endParaRPr lang="en-US" sz="15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Why I focused on hazardous waste</a:t>
            </a:r>
            <a:endParaRPr lang="en-US" sz="3000" dirty="0"/>
          </a:p>
        </p:txBody>
      </p:sp>
      <p:sp>
        <p:nvSpPr>
          <p:cNvPr id="3" name="Shape 1"/>
          <p:cNvSpPr/>
          <p:nvPr/>
        </p:nvSpPr>
        <p:spPr>
          <a:xfrm>
            <a:off x="457200" y="1188720"/>
            <a:ext cx="3931920" cy="1828800"/>
          </a:xfrm>
          <a:prstGeom prst="roundRect">
            <a:avLst>
              <a:gd name="adj" fmla="val 4000"/>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621792" y="1298448"/>
            <a:ext cx="3602736" cy="365760"/>
          </a:xfrm>
          <a:prstGeom prst="rect">
            <a:avLst/>
          </a:prstGeom>
          <a:noFill/>
          <a:ln/>
        </p:spPr>
        <p:txBody>
          <a:bodyPr wrap="square" lIns="0" tIns="0" rIns="0" bIns="0" rtlCol="0" anchor="ctr"/>
          <a:lstStyle/>
          <a:p>
            <a:pPr marL="0" indent="0">
              <a:buNone/>
            </a:pPr>
            <a:r>
              <a:rPr lang="en-US" sz="1500" b="1" dirty="0">
                <a:solidFill>
                  <a:schemeClr val="accent4"/>
                </a:solidFill>
              </a:rPr>
              <a:t>Low-cost mistake</a:t>
            </a:r>
            <a:endParaRPr lang="en-US" sz="1500" dirty="0"/>
          </a:p>
        </p:txBody>
      </p:sp>
      <p:sp>
        <p:nvSpPr>
          <p:cNvPr id="5" name="Text 3"/>
          <p:cNvSpPr txBox="1"/>
          <p:nvPr/>
        </p:nvSpPr>
        <p:spPr>
          <a:xfrm>
            <a:off x="621792" y="1664208"/>
            <a:ext cx="3602736" cy="1261872"/>
          </a:xfrm>
          <a:prstGeom prst="rect">
            <a:avLst/>
          </a:prstGeom>
          <a:noFill/>
          <a:ln/>
        </p:spPr>
        <p:txBody>
          <a:bodyPr wrap="square" lIns="0" tIns="0" rIns="0" bIns="0" rtlCol="0" anchor="t"/>
          <a:lstStyle/>
          <a:p>
            <a:pPr marL="0" indent="0">
              <a:buNone/>
            </a:pPr>
            <a:r>
              <a:rPr lang="en-US" sz="1300" dirty="0">
                <a:solidFill>
                  <a:schemeClr val="tx1"/>
                </a:solidFill>
              </a:rPr>
              <a:t>Cardboard in the plastics bin → a small inefficiency. Nobody gets hurt.</a:t>
            </a:r>
            <a:endParaRPr lang="en-US" sz="1300" dirty="0"/>
          </a:p>
        </p:txBody>
      </p:sp>
      <p:sp>
        <p:nvSpPr>
          <p:cNvPr id="6" name="Shape 4"/>
          <p:cNvSpPr/>
          <p:nvPr/>
        </p:nvSpPr>
        <p:spPr>
          <a:xfrm>
            <a:off x="4754880" y="1188720"/>
            <a:ext cx="3931920" cy="1828800"/>
          </a:xfrm>
          <a:prstGeom prst="roundRect">
            <a:avLst>
              <a:gd name="adj" fmla="val 4000"/>
            </a:avLst>
          </a:prstGeom>
          <a:solidFill>
            <a:schemeClr val="bg2"/>
          </a:solidFill>
          <a:ln w="12700">
            <a:solidFill>
              <a:schemeClr val="bg2"/>
            </a:solidFill>
            <a:prstDash val="solid"/>
          </a:ln>
        </p:spPr>
        <p:txBody>
          <a:bodyPr/>
          <a:lstStyle/>
          <a:p>
            <a:endParaRPr lang="en-IN"/>
          </a:p>
        </p:txBody>
      </p:sp>
      <p:sp>
        <p:nvSpPr>
          <p:cNvPr id="7" name="Text 5"/>
          <p:cNvSpPr txBox="1"/>
          <p:nvPr/>
        </p:nvSpPr>
        <p:spPr>
          <a:xfrm>
            <a:off x="4919472" y="1298448"/>
            <a:ext cx="3602736" cy="365760"/>
          </a:xfrm>
          <a:prstGeom prst="rect">
            <a:avLst/>
          </a:prstGeom>
          <a:noFill/>
          <a:ln/>
        </p:spPr>
        <p:txBody>
          <a:bodyPr wrap="square" lIns="0" tIns="0" rIns="0" bIns="0" rtlCol="0" anchor="ctr"/>
          <a:lstStyle/>
          <a:p>
            <a:pPr marL="0" indent="0">
              <a:buNone/>
            </a:pPr>
            <a:r>
              <a:rPr lang="en-US" sz="1500" b="1" dirty="0">
                <a:solidFill>
                  <a:schemeClr val="accent3"/>
                </a:solidFill>
              </a:rPr>
              <a:t>High-cost mistake</a:t>
            </a:r>
            <a:endParaRPr lang="en-US" sz="1500" dirty="0"/>
          </a:p>
        </p:txBody>
      </p:sp>
      <p:sp>
        <p:nvSpPr>
          <p:cNvPr id="8" name="Text 6"/>
          <p:cNvSpPr txBox="1"/>
          <p:nvPr/>
        </p:nvSpPr>
        <p:spPr>
          <a:xfrm>
            <a:off x="4919472" y="1664208"/>
            <a:ext cx="3602736" cy="1261872"/>
          </a:xfrm>
          <a:prstGeom prst="rect">
            <a:avLst/>
          </a:prstGeom>
          <a:noFill/>
          <a:ln/>
        </p:spPr>
        <p:txBody>
          <a:bodyPr wrap="square" lIns="0" tIns="0" rIns="0" bIns="0" rtlCol="0" anchor="t"/>
          <a:lstStyle/>
          <a:p>
            <a:pPr marL="0" indent="0">
              <a:buNone/>
            </a:pPr>
            <a:r>
              <a:rPr lang="en-US" sz="1300" dirty="0">
                <a:solidFill>
                  <a:schemeClr val="tx1"/>
                </a:solidFill>
              </a:rPr>
              <a:t>Lithium battery in organic waste → fire in a truck.</a:t>
            </a:r>
            <a:endParaRPr lang="en-US" sz="1300" dirty="0"/>
          </a:p>
          <a:p>
            <a:pPr marL="0" indent="0">
              <a:buNone/>
            </a:pPr>
            <a:r>
              <a:rPr lang="en-US" sz="1300" dirty="0">
                <a:solidFill>
                  <a:schemeClr val="tx1"/>
                </a:solidFill>
              </a:rPr>
              <a:t>Pesticide bottle in compost → contaminated soil and water.</a:t>
            </a:r>
            <a:endParaRPr lang="en-US" sz="1300" dirty="0"/>
          </a:p>
        </p:txBody>
      </p:sp>
      <p:sp>
        <p:nvSpPr>
          <p:cNvPr id="9" name="Shape 7"/>
          <p:cNvSpPr/>
          <p:nvPr/>
        </p:nvSpPr>
        <p:spPr>
          <a:xfrm>
            <a:off x="457200" y="3246120"/>
            <a:ext cx="8229600" cy="1325880"/>
          </a:xfrm>
          <a:prstGeom prst="roundRect">
            <a:avLst>
              <a:gd name="adj" fmla="val 5517"/>
            </a:avLst>
          </a:prstGeom>
          <a:solidFill>
            <a:schemeClr val="tx2"/>
          </a:solidFill>
          <a:ln w="12700">
            <a:solidFill>
              <a:schemeClr val="tx2"/>
            </a:solidFill>
            <a:prstDash val="solid"/>
          </a:ln>
        </p:spPr>
        <p:txBody>
          <a:bodyPr/>
          <a:lstStyle/>
          <a:p>
            <a:endParaRPr lang="en-IN"/>
          </a:p>
        </p:txBody>
      </p:sp>
      <p:sp>
        <p:nvSpPr>
          <p:cNvPr id="10" name="Text 8"/>
          <p:cNvSpPr txBox="1"/>
          <p:nvPr/>
        </p:nvSpPr>
        <p:spPr>
          <a:xfrm>
            <a:off x="685800" y="3337560"/>
            <a:ext cx="7772400" cy="1143000"/>
          </a:xfrm>
          <a:prstGeom prst="rect">
            <a:avLst/>
          </a:prstGeom>
          <a:noFill/>
          <a:ln/>
        </p:spPr>
        <p:txBody>
          <a:bodyPr wrap="square" lIns="0" tIns="0" rIns="0" bIns="0" rtlCol="0" anchor="ctr"/>
          <a:lstStyle/>
          <a:p>
            <a:pPr marL="0" indent="0">
              <a:buNone/>
            </a:pPr>
            <a:r>
              <a:rPr lang="en-US" sz="1500" b="1" dirty="0">
                <a:solidFill>
                  <a:schemeClr val="accent2"/>
                </a:solidFill>
              </a:rPr>
              <a:t>Research question:  </a:t>
            </a:r>
            <a:r>
              <a:rPr lang="en-US" sz="1500" i="1" dirty="0">
                <a:solidFill>
                  <a:schemeClr val="bg1"/>
                </a:solidFill>
              </a:rPr>
              <a:t>How reliably can a Vision Transformer classify waste images, and what types of errors could create risks when identifying hazardous waste?</a:t>
            </a:r>
            <a:endParaRPr lang="en-US" sz="15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Step 1 – Dataset</a:t>
            </a:r>
            <a:endParaRPr lang="en-US" sz="3000" dirty="0"/>
          </a:p>
        </p:txBody>
      </p:sp>
      <p:sp>
        <p:nvSpPr>
          <p:cNvPr id="3" name="Text 1"/>
          <p:cNvSpPr txBox="1"/>
          <p:nvPr/>
        </p:nvSpPr>
        <p:spPr>
          <a:xfrm>
            <a:off x="457200" y="1188720"/>
            <a:ext cx="3931920" cy="34747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huaweilin/waste-classification on Hugging Face – real photos, MIT licence</a:t>
            </a:r>
            <a:endParaRPr lang="en-US" sz="1400" dirty="0"/>
          </a:p>
          <a:p>
            <a:pPr marL="177800" indent="-177800">
              <a:spcAft>
                <a:spcPts val="900"/>
              </a:spcAft>
              <a:buSzPct val="100000"/>
              <a:buChar char="•"/>
            </a:pPr>
            <a:r>
              <a:rPr lang="en-US" sz="1400" dirty="0">
                <a:solidFill>
                  <a:schemeClr val="tx1"/>
                </a:solidFill>
              </a:rPr>
              <a:t>1,976 images · 4 classes · 18 subclasses (e.g. batteries, diapers, eggshells, cans)</a:t>
            </a:r>
            <a:endParaRPr lang="en-US" sz="1400" dirty="0"/>
          </a:p>
          <a:p>
            <a:pPr marL="177800" indent="-177800">
              <a:spcAft>
                <a:spcPts val="900"/>
              </a:spcAft>
              <a:buSzPct val="100000"/>
              <a:buChar char="•"/>
            </a:pPr>
            <a:r>
              <a:rPr lang="en-US" sz="1400" dirty="0">
                <a:solidFill>
                  <a:schemeClr val="tx1"/>
                </a:solidFill>
              </a:rPr>
              <a:t>Chosen because it has a real Hazardous class – most waste datasets don't</a:t>
            </a:r>
            <a:endParaRPr lang="en-US" sz="1400" dirty="0"/>
          </a:p>
          <a:p>
            <a:pPr marL="177800" indent="-177800">
              <a:spcAft>
                <a:spcPts val="900"/>
              </a:spcAft>
              <a:buSzPct val="100000"/>
              <a:buChar char="•"/>
            </a:pPr>
            <a:r>
              <a:rPr lang="en-US" sz="1400" dirty="0">
                <a:solidFill>
                  <a:schemeClr val="tx1"/>
                </a:solidFill>
              </a:rPr>
              <a:t>Not perfect: small, uneven (e-waste 359 photos, batteries only 68), and mostly clean product-style photos</a:t>
            </a:r>
            <a:endParaRPr lang="en-US" sz="1400" dirty="0"/>
          </a:p>
        </p:txBody>
      </p:sp>
      <p:pic>
        <p:nvPicPr>
          <p:cNvPr id="4" name="Image 0" descr="/home/claude/smart-waste-vit/results/figures/fig01_class_distribution.png"/>
          <p:cNvPicPr>
            <a:picLocks noChangeAspect="1"/>
          </p:cNvPicPr>
          <p:nvPr/>
        </p:nvPicPr>
        <p:blipFill>
          <a:blip r:embed="rId3"/>
          <a:stretch>
            <a:fillRect/>
          </a:stretch>
        </p:blipFill>
        <p:spPr>
          <a:xfrm>
            <a:off x="4754880" y="1188720"/>
            <a:ext cx="4114800" cy="2651760"/>
          </a:xfrm>
          <a:prstGeom prst="rect">
            <a:avLst/>
          </a:prstGeom>
        </p:spPr>
      </p:pic>
      <p:sp>
        <p:nvSpPr>
          <p:cNvPr id="5" name="Text 2"/>
          <p:cNvSpPr txBox="1"/>
          <p:nvPr/>
        </p:nvSpPr>
        <p:spPr>
          <a:xfrm>
            <a:off x="5029200" y="3886200"/>
            <a:ext cx="4114800" cy="228600"/>
          </a:xfrm>
          <a:prstGeom prst="rect">
            <a:avLst/>
          </a:prstGeom>
          <a:noFill/>
          <a:ln/>
        </p:spPr>
        <p:txBody>
          <a:bodyPr wrap="square" lIns="0" tIns="0" rIns="0" bIns="0" rtlCol="0" anchor="ctr"/>
          <a:lstStyle/>
          <a:p>
            <a:pPr marL="0" indent="0" algn="ctr">
              <a:buNone/>
            </a:pPr>
            <a:r>
              <a:rPr lang="en-US" sz="1000" dirty="0">
                <a:solidFill>
                  <a:schemeClr val="accent6"/>
                </a:solidFill>
              </a:rPr>
              <a:t>Images per class</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Step 2 – Pre-processing</a:t>
            </a:r>
            <a:endParaRPr lang="en-US" sz="3000" dirty="0"/>
          </a:p>
        </p:txBody>
      </p:sp>
      <p:sp>
        <p:nvSpPr>
          <p:cNvPr id="3" name="Shape 1"/>
          <p:cNvSpPr/>
          <p:nvPr/>
        </p:nvSpPr>
        <p:spPr>
          <a:xfrm>
            <a:off x="457200" y="126187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4" name="Text 2"/>
          <p:cNvSpPr txBox="1"/>
          <p:nvPr/>
        </p:nvSpPr>
        <p:spPr>
          <a:xfrm>
            <a:off x="457200" y="126187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5" name="Text 3"/>
          <p:cNvSpPr txBox="1"/>
          <p:nvPr/>
        </p:nvSpPr>
        <p:spPr>
          <a:xfrm>
            <a:off x="1005840" y="118872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Clean</a:t>
            </a:r>
            <a:endParaRPr lang="en-US" sz="1400" dirty="0"/>
          </a:p>
          <a:p>
            <a:pPr marL="0" indent="0">
              <a:buNone/>
            </a:pPr>
            <a:r>
              <a:rPr lang="en-US" sz="1250" dirty="0">
                <a:solidFill>
                  <a:schemeClr val="tx1"/>
                </a:solidFill>
              </a:rPr>
              <a:t>Opened every image, converted to RGB, checked for broken files (none found)</a:t>
            </a:r>
            <a:endParaRPr lang="en-US" sz="1400" dirty="0"/>
          </a:p>
        </p:txBody>
      </p:sp>
      <p:sp>
        <p:nvSpPr>
          <p:cNvPr id="6" name="Shape 4"/>
          <p:cNvSpPr/>
          <p:nvPr/>
        </p:nvSpPr>
        <p:spPr>
          <a:xfrm>
            <a:off x="457200" y="199339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7" name="Text 5"/>
          <p:cNvSpPr txBox="1"/>
          <p:nvPr/>
        </p:nvSpPr>
        <p:spPr>
          <a:xfrm>
            <a:off x="457200" y="199339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8" name="Text 6"/>
          <p:cNvSpPr txBox="1"/>
          <p:nvPr/>
        </p:nvSpPr>
        <p:spPr>
          <a:xfrm>
            <a:off x="1005840" y="192024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Remove duplicates</a:t>
            </a:r>
            <a:endParaRPr lang="en-US" sz="1400" dirty="0"/>
          </a:p>
          <a:p>
            <a:pPr marL="0" indent="0">
              <a:buNone/>
            </a:pPr>
            <a:r>
              <a:rPr lang="en-US" sz="1250" dirty="0">
                <a:solidFill>
                  <a:schemeClr val="tx1"/>
                </a:solidFill>
              </a:rPr>
              <a:t>188 identical photos removed using an image hash → 1,788 images left. Done before splitting so the same photo can't be in both train and test</a:t>
            </a:r>
            <a:endParaRPr lang="en-US" sz="1400" dirty="0"/>
          </a:p>
        </p:txBody>
      </p:sp>
      <p:sp>
        <p:nvSpPr>
          <p:cNvPr id="9" name="Shape 7"/>
          <p:cNvSpPr/>
          <p:nvPr/>
        </p:nvSpPr>
        <p:spPr>
          <a:xfrm>
            <a:off x="457200" y="272491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10" name="Text 8"/>
          <p:cNvSpPr txBox="1"/>
          <p:nvPr/>
        </p:nvSpPr>
        <p:spPr>
          <a:xfrm>
            <a:off x="457200" y="272491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1" name="Text 9"/>
          <p:cNvSpPr txBox="1"/>
          <p:nvPr/>
        </p:nvSpPr>
        <p:spPr>
          <a:xfrm>
            <a:off x="1005840" y="265176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Split</a:t>
            </a:r>
            <a:endParaRPr lang="en-US" sz="1400" dirty="0"/>
          </a:p>
          <a:p>
            <a:pPr marL="0" indent="0">
              <a:buNone/>
            </a:pPr>
            <a:r>
              <a:rPr lang="en-US" sz="1250" dirty="0">
                <a:solidFill>
                  <a:schemeClr val="tx1"/>
                </a:solidFill>
              </a:rPr>
              <a:t>70 % train / 15 % validation / 15 % test = 1,251 / 268 / 269 images, stratified so every subclass appears in every split</a:t>
            </a:r>
            <a:endParaRPr lang="en-US" sz="1400" dirty="0"/>
          </a:p>
        </p:txBody>
      </p:sp>
      <p:sp>
        <p:nvSpPr>
          <p:cNvPr id="12" name="Shape 10"/>
          <p:cNvSpPr/>
          <p:nvPr/>
        </p:nvSpPr>
        <p:spPr>
          <a:xfrm>
            <a:off x="457200" y="345643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13" name="Text 11"/>
          <p:cNvSpPr txBox="1"/>
          <p:nvPr/>
        </p:nvSpPr>
        <p:spPr>
          <a:xfrm>
            <a:off x="457200" y="345643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14" name="Text 12"/>
          <p:cNvSpPr txBox="1"/>
          <p:nvPr/>
        </p:nvSpPr>
        <p:spPr>
          <a:xfrm>
            <a:off x="1005840" y="338328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Resize &amp; normalise</a:t>
            </a:r>
            <a:endParaRPr lang="en-US" sz="1400" dirty="0"/>
          </a:p>
          <a:p>
            <a:pPr marL="0" indent="0">
              <a:buNone/>
            </a:pPr>
            <a:r>
              <a:rPr lang="en-US" sz="1250" dirty="0">
                <a:solidFill>
                  <a:schemeClr val="tx1"/>
                </a:solidFill>
              </a:rPr>
              <a:t>Every image → 224×224 pixels, normalised the way the ViT expects</a:t>
            </a:r>
            <a:endParaRPr lang="en-US" sz="1400" dirty="0"/>
          </a:p>
        </p:txBody>
      </p:sp>
      <p:sp>
        <p:nvSpPr>
          <p:cNvPr id="15" name="Shape 13"/>
          <p:cNvSpPr/>
          <p:nvPr/>
        </p:nvSpPr>
        <p:spPr>
          <a:xfrm>
            <a:off x="457200" y="418795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16" name="Text 14"/>
          <p:cNvSpPr txBox="1"/>
          <p:nvPr/>
        </p:nvSpPr>
        <p:spPr>
          <a:xfrm>
            <a:off x="457200" y="418795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5</a:t>
            </a:r>
            <a:endParaRPr lang="en-US" sz="1300" dirty="0"/>
          </a:p>
        </p:txBody>
      </p:sp>
      <p:sp>
        <p:nvSpPr>
          <p:cNvPr id="17" name="Text 15"/>
          <p:cNvSpPr txBox="1"/>
          <p:nvPr/>
        </p:nvSpPr>
        <p:spPr>
          <a:xfrm>
            <a:off x="1005840" y="411480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Augment (training only)</a:t>
            </a:r>
            <a:endParaRPr lang="en-US" sz="1400" dirty="0"/>
          </a:p>
          <a:p>
            <a:pPr marL="0" indent="0">
              <a:buNone/>
            </a:pPr>
            <a:r>
              <a:rPr lang="en-US" sz="1250" dirty="0">
                <a:solidFill>
                  <a:schemeClr val="tx1"/>
                </a:solidFill>
              </a:rPr>
              <a:t>Random crop, flip, small colour changes – so the model sees more variety. Test images untouched</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Step 3 – The Vision Transformer</a:t>
            </a:r>
            <a:endParaRPr lang="en-US" sz="3000" dirty="0"/>
          </a:p>
        </p:txBody>
      </p:sp>
      <p:sp>
        <p:nvSpPr>
          <p:cNvPr id="3" name="Shape 1"/>
          <p:cNvSpPr/>
          <p:nvPr/>
        </p:nvSpPr>
        <p:spPr>
          <a:xfrm>
            <a:off x="457200" y="1280160"/>
            <a:ext cx="1463040" cy="1005840"/>
          </a:xfrm>
          <a:prstGeom prst="roundRect">
            <a:avLst>
              <a:gd name="adj" fmla="val 7273"/>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457200" y="1353312"/>
            <a:ext cx="1463040" cy="457200"/>
          </a:xfrm>
          <a:prstGeom prst="rect">
            <a:avLst/>
          </a:prstGeom>
          <a:noFill/>
          <a:ln/>
        </p:spPr>
        <p:txBody>
          <a:bodyPr wrap="square" lIns="0" tIns="0" rIns="0" bIns="0" rtlCol="0" anchor="ctr"/>
          <a:lstStyle/>
          <a:p>
            <a:pPr marL="0" indent="0" algn="ctr">
              <a:buNone/>
            </a:pPr>
            <a:r>
              <a:rPr lang="en-US" sz="1300" b="1" dirty="0">
                <a:solidFill>
                  <a:schemeClr val="tx2"/>
                </a:solidFill>
              </a:rPr>
              <a:t>Photo</a:t>
            </a:r>
            <a:endParaRPr lang="en-US" sz="1300" dirty="0"/>
          </a:p>
        </p:txBody>
      </p:sp>
      <p:sp>
        <p:nvSpPr>
          <p:cNvPr id="5" name="Text 3"/>
          <p:cNvSpPr txBox="1"/>
          <p:nvPr/>
        </p:nvSpPr>
        <p:spPr>
          <a:xfrm>
            <a:off x="457200" y="1783080"/>
            <a:ext cx="1463040" cy="411480"/>
          </a:xfrm>
          <a:prstGeom prst="rect">
            <a:avLst/>
          </a:prstGeom>
          <a:noFill/>
          <a:ln/>
        </p:spPr>
        <p:txBody>
          <a:bodyPr wrap="square" lIns="0" tIns="0" rIns="0" bIns="0" rtlCol="0" anchor="ctr"/>
          <a:lstStyle/>
          <a:p>
            <a:pPr marL="0" indent="0" algn="ctr">
              <a:buNone/>
            </a:pPr>
            <a:r>
              <a:rPr lang="en-US" sz="1100" dirty="0">
                <a:solidFill>
                  <a:schemeClr val="accent6"/>
                </a:solidFill>
              </a:rPr>
              <a:t>224 × 224</a:t>
            </a:r>
            <a:endParaRPr lang="en-US" sz="1100" dirty="0"/>
          </a:p>
        </p:txBody>
      </p:sp>
      <p:sp>
        <p:nvSpPr>
          <p:cNvPr id="6" name="Shape 4"/>
          <p:cNvSpPr/>
          <p:nvPr/>
        </p:nvSpPr>
        <p:spPr>
          <a:xfrm>
            <a:off x="1938528" y="1691640"/>
            <a:ext cx="182880" cy="182880"/>
          </a:xfrm>
          <a:prstGeom prst="rightArrow">
            <a:avLst/>
          </a:prstGeom>
          <a:solidFill>
            <a:schemeClr val="accent5"/>
          </a:solidFill>
          <a:ln w="12700">
            <a:solidFill>
              <a:schemeClr val="accent5"/>
            </a:solidFill>
            <a:prstDash val="solid"/>
          </a:ln>
        </p:spPr>
        <p:txBody>
          <a:bodyPr/>
          <a:lstStyle/>
          <a:p>
            <a:endParaRPr lang="en-IN"/>
          </a:p>
        </p:txBody>
      </p:sp>
      <p:sp>
        <p:nvSpPr>
          <p:cNvPr id="7" name="Shape 5"/>
          <p:cNvSpPr/>
          <p:nvPr/>
        </p:nvSpPr>
        <p:spPr>
          <a:xfrm>
            <a:off x="2139696" y="1280160"/>
            <a:ext cx="1463040" cy="1005840"/>
          </a:xfrm>
          <a:prstGeom prst="roundRect">
            <a:avLst>
              <a:gd name="adj" fmla="val 7273"/>
            </a:avLst>
          </a:prstGeom>
          <a:solidFill>
            <a:schemeClr val="bg2"/>
          </a:solidFill>
          <a:ln w="12700">
            <a:solidFill>
              <a:schemeClr val="bg2"/>
            </a:solidFill>
            <a:prstDash val="solid"/>
          </a:ln>
        </p:spPr>
        <p:txBody>
          <a:bodyPr/>
          <a:lstStyle/>
          <a:p>
            <a:endParaRPr lang="en-IN"/>
          </a:p>
        </p:txBody>
      </p:sp>
      <p:sp>
        <p:nvSpPr>
          <p:cNvPr id="8" name="Text 6"/>
          <p:cNvSpPr txBox="1"/>
          <p:nvPr/>
        </p:nvSpPr>
        <p:spPr>
          <a:xfrm>
            <a:off x="2139696" y="1353312"/>
            <a:ext cx="1463040" cy="457200"/>
          </a:xfrm>
          <a:prstGeom prst="rect">
            <a:avLst/>
          </a:prstGeom>
          <a:noFill/>
          <a:ln/>
        </p:spPr>
        <p:txBody>
          <a:bodyPr wrap="square" lIns="0" tIns="0" rIns="0" bIns="0" rtlCol="0" anchor="ctr"/>
          <a:lstStyle/>
          <a:p>
            <a:pPr marL="0" indent="0" algn="ctr">
              <a:buNone/>
            </a:pPr>
            <a:r>
              <a:rPr lang="en-US" sz="1300" b="1" dirty="0">
                <a:solidFill>
                  <a:schemeClr val="tx2"/>
                </a:solidFill>
              </a:rPr>
              <a:t>Patches</a:t>
            </a:r>
            <a:endParaRPr lang="en-US" sz="1300" dirty="0"/>
          </a:p>
        </p:txBody>
      </p:sp>
      <p:sp>
        <p:nvSpPr>
          <p:cNvPr id="9" name="Text 7"/>
          <p:cNvSpPr txBox="1"/>
          <p:nvPr/>
        </p:nvSpPr>
        <p:spPr>
          <a:xfrm>
            <a:off x="2139696" y="1783080"/>
            <a:ext cx="1463040" cy="411480"/>
          </a:xfrm>
          <a:prstGeom prst="rect">
            <a:avLst/>
          </a:prstGeom>
          <a:noFill/>
          <a:ln/>
        </p:spPr>
        <p:txBody>
          <a:bodyPr wrap="square" lIns="0" tIns="0" rIns="0" bIns="0" rtlCol="0" anchor="ctr"/>
          <a:lstStyle/>
          <a:p>
            <a:pPr marL="0" indent="0" algn="ctr">
              <a:buNone/>
            </a:pPr>
            <a:r>
              <a:rPr lang="en-US" sz="1100" dirty="0">
                <a:solidFill>
                  <a:schemeClr val="accent6"/>
                </a:solidFill>
              </a:rPr>
              <a:t>196 × (16 × 16)</a:t>
            </a:r>
            <a:endParaRPr lang="en-US" sz="1100" dirty="0"/>
          </a:p>
        </p:txBody>
      </p:sp>
      <p:sp>
        <p:nvSpPr>
          <p:cNvPr id="10" name="Shape 8"/>
          <p:cNvSpPr/>
          <p:nvPr/>
        </p:nvSpPr>
        <p:spPr>
          <a:xfrm>
            <a:off x="3621024" y="1691640"/>
            <a:ext cx="182880" cy="182880"/>
          </a:xfrm>
          <a:prstGeom prst="rightArrow">
            <a:avLst/>
          </a:prstGeom>
          <a:solidFill>
            <a:schemeClr val="accent5"/>
          </a:solidFill>
          <a:ln w="12700">
            <a:solidFill>
              <a:schemeClr val="accent5"/>
            </a:solidFill>
            <a:prstDash val="solid"/>
          </a:ln>
        </p:spPr>
        <p:txBody>
          <a:bodyPr/>
          <a:lstStyle/>
          <a:p>
            <a:endParaRPr lang="en-IN"/>
          </a:p>
        </p:txBody>
      </p:sp>
      <p:sp>
        <p:nvSpPr>
          <p:cNvPr id="11" name="Shape 9"/>
          <p:cNvSpPr/>
          <p:nvPr/>
        </p:nvSpPr>
        <p:spPr>
          <a:xfrm>
            <a:off x="3822192" y="1280160"/>
            <a:ext cx="1463040" cy="1005840"/>
          </a:xfrm>
          <a:prstGeom prst="roundRect">
            <a:avLst>
              <a:gd name="adj" fmla="val 7273"/>
            </a:avLst>
          </a:prstGeom>
          <a:solidFill>
            <a:schemeClr val="bg2"/>
          </a:solidFill>
          <a:ln w="12700">
            <a:solidFill>
              <a:schemeClr val="bg2"/>
            </a:solidFill>
            <a:prstDash val="solid"/>
          </a:ln>
        </p:spPr>
        <p:txBody>
          <a:bodyPr/>
          <a:lstStyle/>
          <a:p>
            <a:endParaRPr lang="en-IN"/>
          </a:p>
        </p:txBody>
      </p:sp>
      <p:sp>
        <p:nvSpPr>
          <p:cNvPr id="12" name="Text 10"/>
          <p:cNvSpPr txBox="1"/>
          <p:nvPr/>
        </p:nvSpPr>
        <p:spPr>
          <a:xfrm>
            <a:off x="3822192" y="1353312"/>
            <a:ext cx="1463040" cy="457200"/>
          </a:xfrm>
          <a:prstGeom prst="rect">
            <a:avLst/>
          </a:prstGeom>
          <a:noFill/>
          <a:ln/>
        </p:spPr>
        <p:txBody>
          <a:bodyPr wrap="square" lIns="0" tIns="0" rIns="0" bIns="0" rtlCol="0" anchor="ctr"/>
          <a:lstStyle/>
          <a:p>
            <a:pPr marL="0" indent="0" algn="ctr">
              <a:buNone/>
            </a:pPr>
            <a:r>
              <a:rPr lang="en-US" sz="1300" b="1" dirty="0">
                <a:solidFill>
                  <a:schemeClr val="tx2"/>
                </a:solidFill>
              </a:rPr>
              <a:t>Embedding</a:t>
            </a:r>
            <a:endParaRPr lang="en-US" sz="1300" dirty="0"/>
          </a:p>
        </p:txBody>
      </p:sp>
      <p:sp>
        <p:nvSpPr>
          <p:cNvPr id="13" name="Text 11"/>
          <p:cNvSpPr txBox="1"/>
          <p:nvPr/>
        </p:nvSpPr>
        <p:spPr>
          <a:xfrm>
            <a:off x="3822192" y="1783080"/>
            <a:ext cx="1463040" cy="411480"/>
          </a:xfrm>
          <a:prstGeom prst="rect">
            <a:avLst/>
          </a:prstGeom>
          <a:noFill/>
          <a:ln/>
        </p:spPr>
        <p:txBody>
          <a:bodyPr wrap="square" lIns="0" tIns="0" rIns="0" bIns="0" rtlCol="0" anchor="ctr"/>
          <a:lstStyle/>
          <a:p>
            <a:pPr marL="0" indent="0" algn="ctr">
              <a:buNone/>
            </a:pPr>
            <a:r>
              <a:rPr lang="en-US" sz="1100" dirty="0">
                <a:solidFill>
                  <a:schemeClr val="accent6"/>
                </a:solidFill>
              </a:rPr>
              <a:t>768 numbers + position</a:t>
            </a:r>
            <a:endParaRPr lang="en-US" sz="1100" dirty="0"/>
          </a:p>
        </p:txBody>
      </p:sp>
      <p:sp>
        <p:nvSpPr>
          <p:cNvPr id="14" name="Shape 12"/>
          <p:cNvSpPr/>
          <p:nvPr/>
        </p:nvSpPr>
        <p:spPr>
          <a:xfrm>
            <a:off x="5303520" y="1691640"/>
            <a:ext cx="182880" cy="182880"/>
          </a:xfrm>
          <a:prstGeom prst="rightArrow">
            <a:avLst/>
          </a:prstGeom>
          <a:solidFill>
            <a:schemeClr val="accent5"/>
          </a:solidFill>
          <a:ln w="12700">
            <a:solidFill>
              <a:schemeClr val="accent5"/>
            </a:solidFill>
            <a:prstDash val="solid"/>
          </a:ln>
        </p:spPr>
        <p:txBody>
          <a:bodyPr/>
          <a:lstStyle/>
          <a:p>
            <a:endParaRPr lang="en-IN"/>
          </a:p>
        </p:txBody>
      </p:sp>
      <p:sp>
        <p:nvSpPr>
          <p:cNvPr id="15" name="Shape 13"/>
          <p:cNvSpPr/>
          <p:nvPr/>
        </p:nvSpPr>
        <p:spPr>
          <a:xfrm>
            <a:off x="5504688" y="1280160"/>
            <a:ext cx="1463040" cy="1005840"/>
          </a:xfrm>
          <a:prstGeom prst="roundRect">
            <a:avLst>
              <a:gd name="adj" fmla="val 7273"/>
            </a:avLst>
          </a:prstGeom>
          <a:solidFill>
            <a:schemeClr val="accent1"/>
          </a:solidFill>
          <a:ln w="12700">
            <a:solidFill>
              <a:schemeClr val="accent1"/>
            </a:solidFill>
            <a:prstDash val="solid"/>
          </a:ln>
        </p:spPr>
        <p:txBody>
          <a:bodyPr/>
          <a:lstStyle/>
          <a:p>
            <a:endParaRPr lang="en-IN"/>
          </a:p>
        </p:txBody>
      </p:sp>
      <p:sp>
        <p:nvSpPr>
          <p:cNvPr id="16" name="Text 14"/>
          <p:cNvSpPr txBox="1"/>
          <p:nvPr/>
        </p:nvSpPr>
        <p:spPr>
          <a:xfrm>
            <a:off x="5504688" y="1353312"/>
            <a:ext cx="1463040" cy="457200"/>
          </a:xfrm>
          <a:prstGeom prst="rect">
            <a:avLst/>
          </a:prstGeom>
          <a:noFill/>
          <a:ln/>
        </p:spPr>
        <p:txBody>
          <a:bodyPr wrap="square" lIns="0" tIns="0" rIns="0" bIns="0" rtlCol="0" anchor="ctr"/>
          <a:lstStyle/>
          <a:p>
            <a:pPr marL="0" indent="0" algn="ctr">
              <a:buNone/>
            </a:pPr>
            <a:r>
              <a:rPr lang="en-US" sz="1300" b="1" dirty="0">
                <a:solidFill>
                  <a:schemeClr val="bg1"/>
                </a:solidFill>
              </a:rPr>
              <a:t>Self-attention</a:t>
            </a:r>
            <a:endParaRPr lang="en-US" sz="1300" dirty="0"/>
          </a:p>
        </p:txBody>
      </p:sp>
      <p:sp>
        <p:nvSpPr>
          <p:cNvPr id="17" name="Text 15"/>
          <p:cNvSpPr txBox="1"/>
          <p:nvPr/>
        </p:nvSpPr>
        <p:spPr>
          <a:xfrm>
            <a:off x="5504688" y="1783080"/>
            <a:ext cx="1463040" cy="411480"/>
          </a:xfrm>
          <a:prstGeom prst="rect">
            <a:avLst/>
          </a:prstGeom>
          <a:noFill/>
          <a:ln/>
        </p:spPr>
        <p:txBody>
          <a:bodyPr wrap="square" lIns="0" tIns="0" rIns="0" bIns="0" rtlCol="0" anchor="ctr"/>
          <a:lstStyle/>
          <a:p>
            <a:pPr marL="0" indent="0" algn="ctr">
              <a:buNone/>
            </a:pPr>
            <a:r>
              <a:rPr lang="en-US" sz="1100" dirty="0">
                <a:solidFill>
                  <a:schemeClr val="accent2"/>
                </a:solidFill>
              </a:rPr>
              <a:t>12 layers</a:t>
            </a:r>
            <a:endParaRPr lang="en-US" sz="1100" dirty="0"/>
          </a:p>
        </p:txBody>
      </p:sp>
      <p:sp>
        <p:nvSpPr>
          <p:cNvPr id="18" name="Shape 16"/>
          <p:cNvSpPr/>
          <p:nvPr/>
        </p:nvSpPr>
        <p:spPr>
          <a:xfrm>
            <a:off x="6986016" y="1691640"/>
            <a:ext cx="182880" cy="182880"/>
          </a:xfrm>
          <a:prstGeom prst="rightArrow">
            <a:avLst/>
          </a:prstGeom>
          <a:solidFill>
            <a:schemeClr val="accent5"/>
          </a:solidFill>
          <a:ln w="12700">
            <a:solidFill>
              <a:schemeClr val="accent5"/>
            </a:solidFill>
            <a:prstDash val="solid"/>
          </a:ln>
        </p:spPr>
        <p:txBody>
          <a:bodyPr/>
          <a:lstStyle/>
          <a:p>
            <a:endParaRPr lang="en-IN"/>
          </a:p>
        </p:txBody>
      </p:sp>
      <p:sp>
        <p:nvSpPr>
          <p:cNvPr id="19" name="Shape 17"/>
          <p:cNvSpPr/>
          <p:nvPr/>
        </p:nvSpPr>
        <p:spPr>
          <a:xfrm>
            <a:off x="7187184" y="1280160"/>
            <a:ext cx="1463040" cy="1005840"/>
          </a:xfrm>
          <a:prstGeom prst="roundRect">
            <a:avLst>
              <a:gd name="adj" fmla="val 7273"/>
            </a:avLst>
          </a:prstGeom>
          <a:solidFill>
            <a:schemeClr val="bg2"/>
          </a:solidFill>
          <a:ln w="12700">
            <a:solidFill>
              <a:schemeClr val="bg2"/>
            </a:solidFill>
            <a:prstDash val="solid"/>
          </a:ln>
        </p:spPr>
        <p:txBody>
          <a:bodyPr/>
          <a:lstStyle/>
          <a:p>
            <a:endParaRPr lang="en-IN"/>
          </a:p>
        </p:txBody>
      </p:sp>
      <p:sp>
        <p:nvSpPr>
          <p:cNvPr id="20" name="Text 18"/>
          <p:cNvSpPr txBox="1"/>
          <p:nvPr/>
        </p:nvSpPr>
        <p:spPr>
          <a:xfrm>
            <a:off x="7187184" y="1353312"/>
            <a:ext cx="1463040" cy="457200"/>
          </a:xfrm>
          <a:prstGeom prst="rect">
            <a:avLst/>
          </a:prstGeom>
          <a:noFill/>
          <a:ln/>
        </p:spPr>
        <p:txBody>
          <a:bodyPr wrap="square" lIns="0" tIns="0" rIns="0" bIns="0" rtlCol="0" anchor="ctr"/>
          <a:lstStyle/>
          <a:p>
            <a:pPr marL="0" indent="0" algn="ctr">
              <a:buNone/>
            </a:pPr>
            <a:r>
              <a:rPr lang="en-US" sz="1300" b="1" dirty="0">
                <a:solidFill>
                  <a:schemeClr val="tx2"/>
                </a:solidFill>
              </a:rPr>
              <a:t>Prediction</a:t>
            </a:r>
            <a:endParaRPr lang="en-US" sz="1300" dirty="0"/>
          </a:p>
        </p:txBody>
      </p:sp>
      <p:sp>
        <p:nvSpPr>
          <p:cNvPr id="21" name="Text 19"/>
          <p:cNvSpPr txBox="1"/>
          <p:nvPr/>
        </p:nvSpPr>
        <p:spPr>
          <a:xfrm>
            <a:off x="7187184" y="1783080"/>
            <a:ext cx="1463040" cy="411480"/>
          </a:xfrm>
          <a:prstGeom prst="rect">
            <a:avLst/>
          </a:prstGeom>
          <a:noFill/>
          <a:ln/>
        </p:spPr>
        <p:txBody>
          <a:bodyPr wrap="square" lIns="0" tIns="0" rIns="0" bIns="0" rtlCol="0" anchor="ctr"/>
          <a:lstStyle/>
          <a:p>
            <a:pPr marL="0" indent="0" algn="ctr">
              <a:buNone/>
            </a:pPr>
            <a:r>
              <a:rPr lang="en-US" sz="1100" dirty="0">
                <a:solidFill>
                  <a:schemeClr val="accent6"/>
                </a:solidFill>
              </a:rPr>
              <a:t>4 classes</a:t>
            </a:r>
            <a:endParaRPr lang="en-US" sz="1100" dirty="0"/>
          </a:p>
        </p:txBody>
      </p:sp>
      <p:sp>
        <p:nvSpPr>
          <p:cNvPr id="22" name="Text 20"/>
          <p:cNvSpPr txBox="1"/>
          <p:nvPr/>
        </p:nvSpPr>
        <p:spPr>
          <a:xfrm>
            <a:off x="457200" y="2560320"/>
            <a:ext cx="8229600" cy="21031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The image is cut into 196 small squares (patches), like words in a sentence</a:t>
            </a:r>
            <a:endParaRPr lang="en-US" sz="1400" dirty="0"/>
          </a:p>
          <a:p>
            <a:pPr marL="177800" indent="-177800">
              <a:spcAft>
                <a:spcPts val="900"/>
              </a:spcAft>
              <a:buSzPct val="100000"/>
              <a:buChar char="•"/>
            </a:pPr>
            <a:r>
              <a:rPr lang="en-US" sz="1400" dirty="0">
                <a:solidFill>
                  <a:schemeClr val="tx1"/>
                </a:solidFill>
              </a:rPr>
              <a:t>Self-attention lets every patch "look at" every other patch – so the model sees the whole object, not just local texture</a:t>
            </a:r>
            <a:endParaRPr lang="en-US" sz="1400" dirty="0"/>
          </a:p>
          <a:p>
            <a:pPr marL="177800" indent="-177800">
              <a:spcAft>
                <a:spcPts val="900"/>
              </a:spcAft>
              <a:buSzPct val="100000"/>
              <a:buChar char="•"/>
            </a:pPr>
            <a:r>
              <a:rPr lang="en-US" sz="1400" dirty="0">
                <a:solidFill>
                  <a:schemeClr val="tx1"/>
                </a:solidFill>
              </a:rPr>
              <a:t>I used google/vit-base-patch16-224, already trained on 14 million ImageNet photos</a:t>
            </a:r>
            <a:endParaRPr lang="en-US" sz="1400" dirty="0"/>
          </a:p>
          <a:p>
            <a:pPr marL="177800" indent="-177800">
              <a:spcAft>
                <a:spcPts val="900"/>
              </a:spcAft>
              <a:buSzPct val="100000"/>
              <a:buChar char="•"/>
            </a:pPr>
            <a:r>
              <a:rPr lang="en-US" sz="1400" dirty="0">
                <a:solidFill>
                  <a:schemeClr val="tx1"/>
                </a:solidFill>
              </a:rPr>
              <a:t>I replaced its 1000-class output layer with a new 4-class layer and fine-tuned the whole model (transfer learning)</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Step 4 – Training</a:t>
            </a:r>
            <a:endParaRPr lang="en-US" sz="3000" dirty="0"/>
          </a:p>
        </p:txBody>
      </p:sp>
      <p:sp>
        <p:nvSpPr>
          <p:cNvPr id="3" name="Text 1"/>
          <p:cNvSpPr txBox="1"/>
          <p:nvPr/>
        </p:nvSpPr>
        <p:spPr>
          <a:xfrm>
            <a:off x="457200" y="1188720"/>
            <a:ext cx="4023360" cy="34747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Google Colab, free Tesla T4 GPU</a:t>
            </a:r>
            <a:endParaRPr lang="en-US" sz="1400" dirty="0"/>
          </a:p>
          <a:p>
            <a:pPr marL="177800" indent="-177800">
              <a:spcAft>
                <a:spcPts val="900"/>
              </a:spcAft>
              <a:buSzPct val="100000"/>
              <a:buChar char="•"/>
            </a:pPr>
            <a:r>
              <a:rPr lang="en-US" sz="1400" dirty="0">
                <a:solidFill>
                  <a:schemeClr val="tx1"/>
                </a:solidFill>
              </a:rPr>
              <a:t>5 epochs (the model sees all training images 5 times) · batch of 32 images</a:t>
            </a:r>
            <a:endParaRPr lang="en-US" sz="1400" dirty="0"/>
          </a:p>
          <a:p>
            <a:pPr marL="177800" indent="-177800">
              <a:spcAft>
                <a:spcPts val="900"/>
              </a:spcAft>
              <a:buSzPct val="100000"/>
              <a:buChar char="•"/>
            </a:pPr>
            <a:r>
              <a:rPr lang="en-US" sz="1400" dirty="0">
                <a:solidFill>
                  <a:schemeClr val="tx1"/>
                </a:solidFill>
              </a:rPr>
              <a:t>Small learning rate (5e-5) so the pretrained knowledge is not destroyed</a:t>
            </a:r>
            <a:endParaRPr lang="en-US" sz="1400" dirty="0"/>
          </a:p>
          <a:p>
            <a:pPr marL="177800" indent="-177800">
              <a:spcAft>
                <a:spcPts val="900"/>
              </a:spcAft>
              <a:buSzPct val="100000"/>
              <a:buChar char="•"/>
            </a:pPr>
            <a:r>
              <a:rPr lang="en-US" sz="1400" dirty="0">
                <a:solidFill>
                  <a:schemeClr val="tx1"/>
                </a:solidFill>
              </a:rPr>
              <a:t>After each epoch I checked the validation set and kept the best one → epoch 3</a:t>
            </a:r>
            <a:endParaRPr lang="en-US" sz="1400" dirty="0"/>
          </a:p>
          <a:p>
            <a:pPr marL="177800" indent="-177800">
              <a:spcAft>
                <a:spcPts val="900"/>
              </a:spcAft>
              <a:buSzPct val="100000"/>
              <a:buChar char="•"/>
            </a:pPr>
            <a:r>
              <a:rPr lang="en-US" sz="1400" dirty="0">
                <a:solidFill>
                  <a:schemeClr val="tx1"/>
                </a:solidFill>
              </a:rPr>
              <a:t>After epoch 3 the model started to over-fit (memorise), so stopping there was correct</a:t>
            </a:r>
            <a:endParaRPr lang="en-US" sz="1400" dirty="0"/>
          </a:p>
          <a:p>
            <a:pPr marL="177800" indent="-177800">
              <a:spcAft>
                <a:spcPts val="900"/>
              </a:spcAft>
              <a:buSzPct val="100000"/>
              <a:buChar char="•"/>
            </a:pPr>
            <a:r>
              <a:rPr lang="en-US" sz="1400" dirty="0">
                <a:solidFill>
                  <a:schemeClr val="tx1"/>
                </a:solidFill>
              </a:rPr>
              <a:t>Total training time: 5.2 minutes</a:t>
            </a:r>
            <a:endParaRPr lang="en-US" sz="1400" dirty="0"/>
          </a:p>
        </p:txBody>
      </p:sp>
      <p:pic>
        <p:nvPicPr>
          <p:cNvPr id="4" name="Image 0" descr="/home/claude/smart-waste-vit/results/figures/fig04_training_curves.png"/>
          <p:cNvPicPr>
            <a:picLocks noChangeAspect="1"/>
          </p:cNvPicPr>
          <p:nvPr/>
        </p:nvPicPr>
        <p:blipFill>
          <a:blip r:embed="rId3"/>
          <a:stretch>
            <a:fillRect/>
          </a:stretch>
        </p:blipFill>
        <p:spPr>
          <a:xfrm>
            <a:off x="4572000" y="1371599"/>
            <a:ext cx="4297680" cy="2715065"/>
          </a:xfrm>
          <a:prstGeom prst="rect">
            <a:avLst/>
          </a:prstGeom>
        </p:spPr>
      </p:pic>
      <p:sp>
        <p:nvSpPr>
          <p:cNvPr id="5" name="Text 2"/>
          <p:cNvSpPr txBox="1"/>
          <p:nvPr/>
        </p:nvSpPr>
        <p:spPr>
          <a:xfrm>
            <a:off x="4663442" y="4178103"/>
            <a:ext cx="4114800" cy="228600"/>
          </a:xfrm>
          <a:prstGeom prst="rect">
            <a:avLst/>
          </a:prstGeom>
          <a:noFill/>
          <a:ln/>
        </p:spPr>
        <p:txBody>
          <a:bodyPr wrap="square" lIns="0" tIns="0" rIns="0" bIns="0" rtlCol="0" anchor="ctr"/>
          <a:lstStyle/>
          <a:p>
            <a:pPr marL="0" indent="0" algn="ctr">
              <a:buNone/>
            </a:pPr>
            <a:r>
              <a:rPr lang="en-US" sz="1000" dirty="0">
                <a:solidFill>
                  <a:schemeClr val="accent6"/>
                </a:solidFill>
              </a:rPr>
              <a:t>Validation loss and accuracy per epoch</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Step 5 – Results on the test set</a:t>
            </a:r>
            <a:endParaRPr lang="en-US" sz="3000" dirty="0"/>
          </a:p>
        </p:txBody>
      </p:sp>
      <p:sp>
        <p:nvSpPr>
          <p:cNvPr id="3" name="Shape 1"/>
          <p:cNvSpPr/>
          <p:nvPr/>
        </p:nvSpPr>
        <p:spPr>
          <a:xfrm>
            <a:off x="457200" y="1188720"/>
            <a:ext cx="1828800" cy="1234440"/>
          </a:xfrm>
          <a:prstGeom prst="roundRect">
            <a:avLst>
              <a:gd name="adj" fmla="val 7407"/>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457200" y="1280160"/>
            <a:ext cx="1828800" cy="685800"/>
          </a:xfrm>
          <a:prstGeom prst="rect">
            <a:avLst/>
          </a:prstGeom>
          <a:noFill/>
          <a:ln/>
        </p:spPr>
        <p:txBody>
          <a:bodyPr wrap="square" lIns="0" tIns="0" rIns="0" bIns="0" rtlCol="0" anchor="ctr"/>
          <a:lstStyle/>
          <a:p>
            <a:pPr marL="0" indent="0" algn="ctr">
              <a:buNone/>
            </a:pPr>
            <a:r>
              <a:rPr lang="en-US" sz="3200" b="1" dirty="0">
                <a:solidFill>
                  <a:schemeClr val="tx2"/>
                </a:solidFill>
              </a:rPr>
              <a:t>92.6%</a:t>
            </a:r>
            <a:endParaRPr lang="en-US" sz="3200" dirty="0"/>
          </a:p>
        </p:txBody>
      </p:sp>
      <p:sp>
        <p:nvSpPr>
          <p:cNvPr id="5" name="Text 3"/>
          <p:cNvSpPr txBox="1"/>
          <p:nvPr/>
        </p:nvSpPr>
        <p:spPr>
          <a:xfrm>
            <a:off x="548640" y="1965960"/>
            <a:ext cx="1645920" cy="411480"/>
          </a:xfrm>
          <a:prstGeom prst="rect">
            <a:avLst/>
          </a:prstGeom>
          <a:noFill/>
          <a:ln/>
        </p:spPr>
        <p:txBody>
          <a:bodyPr wrap="square" lIns="0" tIns="0" rIns="0" bIns="0" rtlCol="0" anchor="t"/>
          <a:lstStyle/>
          <a:p>
            <a:pPr marL="0" indent="0" algn="ctr">
              <a:buNone/>
            </a:pPr>
            <a:r>
              <a:rPr lang="en-US" sz="1100" dirty="0">
                <a:solidFill>
                  <a:schemeClr val="accent6"/>
                </a:solidFill>
              </a:rPr>
              <a:t>accuracy</a:t>
            </a:r>
            <a:endParaRPr lang="en-US" sz="1100" dirty="0"/>
          </a:p>
          <a:p>
            <a:pPr marL="0" indent="0" algn="ctr">
              <a:buNone/>
            </a:pPr>
            <a:r>
              <a:rPr lang="en-US" sz="1100" dirty="0">
                <a:solidFill>
                  <a:schemeClr val="accent6"/>
                </a:solidFill>
              </a:rPr>
              <a:t>249 of 269 correct</a:t>
            </a:r>
            <a:endParaRPr lang="en-US" sz="1100" dirty="0"/>
          </a:p>
        </p:txBody>
      </p:sp>
      <p:sp>
        <p:nvSpPr>
          <p:cNvPr id="6" name="Shape 4"/>
          <p:cNvSpPr/>
          <p:nvPr/>
        </p:nvSpPr>
        <p:spPr>
          <a:xfrm>
            <a:off x="2423160" y="1188720"/>
            <a:ext cx="1828800" cy="1234440"/>
          </a:xfrm>
          <a:prstGeom prst="roundRect">
            <a:avLst>
              <a:gd name="adj" fmla="val 7407"/>
            </a:avLst>
          </a:prstGeom>
          <a:solidFill>
            <a:schemeClr val="bg2"/>
          </a:solidFill>
          <a:ln w="12700">
            <a:solidFill>
              <a:schemeClr val="bg2"/>
            </a:solidFill>
            <a:prstDash val="solid"/>
          </a:ln>
        </p:spPr>
        <p:txBody>
          <a:bodyPr/>
          <a:lstStyle/>
          <a:p>
            <a:endParaRPr lang="en-IN"/>
          </a:p>
        </p:txBody>
      </p:sp>
      <p:sp>
        <p:nvSpPr>
          <p:cNvPr id="7" name="Text 5"/>
          <p:cNvSpPr txBox="1"/>
          <p:nvPr/>
        </p:nvSpPr>
        <p:spPr>
          <a:xfrm>
            <a:off x="2423160" y="1280160"/>
            <a:ext cx="1828800" cy="685800"/>
          </a:xfrm>
          <a:prstGeom prst="rect">
            <a:avLst/>
          </a:prstGeom>
          <a:noFill/>
          <a:ln/>
        </p:spPr>
        <p:txBody>
          <a:bodyPr wrap="square" lIns="0" tIns="0" rIns="0" bIns="0" rtlCol="0" anchor="ctr"/>
          <a:lstStyle/>
          <a:p>
            <a:pPr marL="0" indent="0" algn="ctr">
              <a:buNone/>
            </a:pPr>
            <a:r>
              <a:rPr lang="en-US" sz="3200" b="1" dirty="0">
                <a:solidFill>
                  <a:schemeClr val="tx2"/>
                </a:solidFill>
              </a:rPr>
              <a:t>0.925</a:t>
            </a:r>
            <a:endParaRPr lang="en-US" sz="3200" dirty="0"/>
          </a:p>
        </p:txBody>
      </p:sp>
      <p:sp>
        <p:nvSpPr>
          <p:cNvPr id="8" name="Text 6"/>
          <p:cNvSpPr txBox="1"/>
          <p:nvPr/>
        </p:nvSpPr>
        <p:spPr>
          <a:xfrm>
            <a:off x="2514600" y="1965960"/>
            <a:ext cx="1645920" cy="411480"/>
          </a:xfrm>
          <a:prstGeom prst="rect">
            <a:avLst/>
          </a:prstGeom>
          <a:noFill/>
          <a:ln/>
        </p:spPr>
        <p:txBody>
          <a:bodyPr wrap="square" lIns="0" tIns="0" rIns="0" bIns="0" rtlCol="0" anchor="t"/>
          <a:lstStyle/>
          <a:p>
            <a:pPr marL="0" indent="0" algn="ctr">
              <a:buNone/>
            </a:pPr>
            <a:r>
              <a:rPr lang="en-US" sz="1100" dirty="0">
                <a:solidFill>
                  <a:schemeClr val="accent6"/>
                </a:solidFill>
              </a:rPr>
              <a:t>macro F1</a:t>
            </a:r>
            <a:endParaRPr lang="en-US" sz="1100" dirty="0"/>
          </a:p>
          <a:p>
            <a:pPr marL="0" indent="0" algn="ctr">
              <a:buNone/>
            </a:pPr>
            <a:r>
              <a:rPr lang="en-US" sz="1100" dirty="0">
                <a:solidFill>
                  <a:schemeClr val="accent6"/>
                </a:solidFill>
              </a:rPr>
              <a:t>(all 4 classes equal)</a:t>
            </a:r>
            <a:endParaRPr lang="en-US" sz="1100" dirty="0"/>
          </a:p>
        </p:txBody>
      </p:sp>
      <p:sp>
        <p:nvSpPr>
          <p:cNvPr id="9" name="Shape 7"/>
          <p:cNvSpPr/>
          <p:nvPr/>
        </p:nvSpPr>
        <p:spPr>
          <a:xfrm>
            <a:off x="457200" y="2560320"/>
            <a:ext cx="1828800" cy="1234440"/>
          </a:xfrm>
          <a:prstGeom prst="roundRect">
            <a:avLst>
              <a:gd name="adj" fmla="val 7407"/>
            </a:avLst>
          </a:prstGeom>
          <a:solidFill>
            <a:schemeClr val="bg2"/>
          </a:solidFill>
          <a:ln w="12700">
            <a:solidFill>
              <a:schemeClr val="bg2"/>
            </a:solidFill>
            <a:prstDash val="solid"/>
          </a:ln>
        </p:spPr>
        <p:txBody>
          <a:bodyPr/>
          <a:lstStyle/>
          <a:p>
            <a:endParaRPr lang="en-IN"/>
          </a:p>
        </p:txBody>
      </p:sp>
      <p:sp>
        <p:nvSpPr>
          <p:cNvPr id="10" name="Text 8"/>
          <p:cNvSpPr txBox="1"/>
          <p:nvPr/>
        </p:nvSpPr>
        <p:spPr>
          <a:xfrm>
            <a:off x="457200" y="2651760"/>
            <a:ext cx="1828800" cy="685800"/>
          </a:xfrm>
          <a:prstGeom prst="rect">
            <a:avLst/>
          </a:prstGeom>
          <a:noFill/>
          <a:ln/>
        </p:spPr>
        <p:txBody>
          <a:bodyPr wrap="square" lIns="0" tIns="0" rIns="0" bIns="0" rtlCol="0" anchor="ctr"/>
          <a:lstStyle/>
          <a:p>
            <a:pPr marL="0" indent="0" algn="ctr">
              <a:buNone/>
            </a:pPr>
            <a:r>
              <a:rPr lang="en-US" sz="3200" b="1" dirty="0">
                <a:solidFill>
                  <a:schemeClr val="accent3"/>
                </a:solidFill>
              </a:rPr>
              <a:t>53 / 59</a:t>
            </a:r>
            <a:endParaRPr lang="en-US" sz="3200" dirty="0"/>
          </a:p>
        </p:txBody>
      </p:sp>
      <p:sp>
        <p:nvSpPr>
          <p:cNvPr id="11" name="Text 9"/>
          <p:cNvSpPr txBox="1"/>
          <p:nvPr/>
        </p:nvSpPr>
        <p:spPr>
          <a:xfrm>
            <a:off x="548640" y="3337560"/>
            <a:ext cx="1645920" cy="411480"/>
          </a:xfrm>
          <a:prstGeom prst="rect">
            <a:avLst/>
          </a:prstGeom>
          <a:noFill/>
          <a:ln/>
        </p:spPr>
        <p:txBody>
          <a:bodyPr wrap="square" lIns="0" tIns="0" rIns="0" bIns="0" rtlCol="0" anchor="t"/>
          <a:lstStyle/>
          <a:p>
            <a:pPr marL="0" indent="0" algn="ctr">
              <a:buNone/>
            </a:pPr>
            <a:r>
              <a:rPr lang="en-US" sz="1100" dirty="0">
                <a:solidFill>
                  <a:schemeClr val="accent6"/>
                </a:solidFill>
              </a:rPr>
              <a:t>hazardous items</a:t>
            </a:r>
            <a:endParaRPr lang="en-US" sz="1100" dirty="0"/>
          </a:p>
          <a:p>
            <a:pPr marL="0" indent="0" algn="ctr">
              <a:buNone/>
            </a:pPr>
            <a:r>
              <a:rPr lang="en-US" sz="1100" dirty="0">
                <a:solidFill>
                  <a:schemeClr val="accent6"/>
                </a:solidFill>
              </a:rPr>
              <a:t>caught</a:t>
            </a:r>
            <a:endParaRPr lang="en-US" sz="1100" dirty="0"/>
          </a:p>
        </p:txBody>
      </p:sp>
      <p:sp>
        <p:nvSpPr>
          <p:cNvPr id="12" name="Shape 10"/>
          <p:cNvSpPr/>
          <p:nvPr/>
        </p:nvSpPr>
        <p:spPr>
          <a:xfrm>
            <a:off x="2423160" y="2560320"/>
            <a:ext cx="1828800" cy="1234440"/>
          </a:xfrm>
          <a:prstGeom prst="roundRect">
            <a:avLst>
              <a:gd name="adj" fmla="val 7407"/>
            </a:avLst>
          </a:prstGeom>
          <a:solidFill>
            <a:schemeClr val="bg2"/>
          </a:solidFill>
          <a:ln w="12700">
            <a:solidFill>
              <a:schemeClr val="bg2"/>
            </a:solidFill>
            <a:prstDash val="solid"/>
          </a:ln>
        </p:spPr>
        <p:txBody>
          <a:bodyPr/>
          <a:lstStyle/>
          <a:p>
            <a:endParaRPr lang="en-IN"/>
          </a:p>
        </p:txBody>
      </p:sp>
      <p:sp>
        <p:nvSpPr>
          <p:cNvPr id="13" name="Text 11"/>
          <p:cNvSpPr txBox="1"/>
          <p:nvPr/>
        </p:nvSpPr>
        <p:spPr>
          <a:xfrm>
            <a:off x="2423160" y="2651760"/>
            <a:ext cx="1828800" cy="685800"/>
          </a:xfrm>
          <a:prstGeom prst="rect">
            <a:avLst/>
          </a:prstGeom>
          <a:noFill/>
          <a:ln/>
        </p:spPr>
        <p:txBody>
          <a:bodyPr wrap="square" lIns="0" tIns="0" rIns="0" bIns="0" rtlCol="0" anchor="ctr"/>
          <a:lstStyle/>
          <a:p>
            <a:pPr marL="0" indent="0" algn="ctr">
              <a:buNone/>
            </a:pPr>
            <a:r>
              <a:rPr lang="en-US" sz="3200" b="1" dirty="0">
                <a:solidFill>
                  <a:schemeClr val="accent3"/>
                </a:solidFill>
              </a:rPr>
              <a:t>6</a:t>
            </a:r>
            <a:endParaRPr lang="en-US" sz="3200" dirty="0"/>
          </a:p>
        </p:txBody>
      </p:sp>
      <p:sp>
        <p:nvSpPr>
          <p:cNvPr id="14" name="Text 12"/>
          <p:cNvSpPr txBox="1"/>
          <p:nvPr/>
        </p:nvSpPr>
        <p:spPr>
          <a:xfrm>
            <a:off x="2514600" y="3337560"/>
            <a:ext cx="1645920" cy="411480"/>
          </a:xfrm>
          <a:prstGeom prst="rect">
            <a:avLst/>
          </a:prstGeom>
          <a:noFill/>
          <a:ln/>
        </p:spPr>
        <p:txBody>
          <a:bodyPr wrap="square" lIns="0" tIns="0" rIns="0" bIns="0" rtlCol="0" anchor="t"/>
          <a:lstStyle/>
          <a:p>
            <a:pPr marL="0" indent="0" algn="ctr">
              <a:buNone/>
            </a:pPr>
            <a:r>
              <a:rPr lang="en-US" sz="1100" dirty="0">
                <a:solidFill>
                  <a:schemeClr val="accent6"/>
                </a:solidFill>
              </a:rPr>
              <a:t>hazardous items</a:t>
            </a:r>
            <a:endParaRPr lang="en-US" sz="1100" dirty="0"/>
          </a:p>
          <a:p>
            <a:pPr marL="0" indent="0" algn="ctr">
              <a:buNone/>
            </a:pPr>
            <a:r>
              <a:rPr lang="en-US" sz="1100" dirty="0">
                <a:solidFill>
                  <a:schemeClr val="accent6"/>
                </a:solidFill>
              </a:rPr>
              <a:t>missed (10 %)</a:t>
            </a:r>
            <a:endParaRPr lang="en-US" sz="1100" dirty="0"/>
          </a:p>
        </p:txBody>
      </p:sp>
      <p:pic>
        <p:nvPicPr>
          <p:cNvPr id="15" name="Image 0" descr="/home/claude/smart-waste-vit/results/figures/fig05_confusion_matrix.png"/>
          <p:cNvPicPr>
            <a:picLocks noChangeAspect="1"/>
          </p:cNvPicPr>
          <p:nvPr/>
        </p:nvPicPr>
        <p:blipFill>
          <a:blip r:embed="rId3"/>
          <a:stretch>
            <a:fillRect/>
          </a:stretch>
        </p:blipFill>
        <p:spPr>
          <a:xfrm>
            <a:off x="4480560" y="1188720"/>
            <a:ext cx="4206240" cy="3291840"/>
          </a:xfrm>
          <a:prstGeom prst="rect">
            <a:avLst/>
          </a:prstGeom>
        </p:spPr>
      </p:pic>
      <p:sp>
        <p:nvSpPr>
          <p:cNvPr id="16" name="Text 13"/>
          <p:cNvSpPr txBox="1"/>
          <p:nvPr/>
        </p:nvSpPr>
        <p:spPr>
          <a:xfrm>
            <a:off x="457200" y="3977640"/>
            <a:ext cx="3794760" cy="548640"/>
          </a:xfrm>
          <a:prstGeom prst="rect">
            <a:avLst/>
          </a:prstGeom>
          <a:noFill/>
          <a:ln/>
        </p:spPr>
        <p:txBody>
          <a:bodyPr wrap="square" lIns="0" tIns="0" rIns="0" bIns="0" rtlCol="0" anchor="ctr"/>
          <a:lstStyle/>
          <a:p>
            <a:pPr marL="0" indent="0">
              <a:buNone/>
            </a:pPr>
            <a:r>
              <a:rPr lang="en-US" sz="1100" i="1" dirty="0">
                <a:solidFill>
                  <a:schemeClr val="accent3"/>
                </a:solidFill>
              </a:rPr>
              <a:t>Confusion matrix – orange boxes = hazardous items sent to the wrong bin</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Which hazardous items were missed – and why</a:t>
            </a:r>
            <a:endParaRPr lang="en-US" sz="3000" dirty="0"/>
          </a:p>
        </p:txBody>
      </p:sp>
      <p:pic>
        <p:nvPicPr>
          <p:cNvPr id="3" name="Image 0" descr="/home/claude/smart-waste-vit/results/figures/fig06_hazardous_subclass_recall.png"/>
          <p:cNvPicPr>
            <a:picLocks noChangeAspect="1"/>
          </p:cNvPicPr>
          <p:nvPr/>
        </p:nvPicPr>
        <p:blipFill>
          <a:blip r:embed="rId3"/>
          <a:stretch>
            <a:fillRect/>
          </a:stretch>
        </p:blipFill>
        <p:spPr>
          <a:xfrm>
            <a:off x="330591" y="1188719"/>
            <a:ext cx="4149969" cy="3242603"/>
          </a:xfrm>
          <a:prstGeom prst="rect">
            <a:avLst/>
          </a:prstGeom>
        </p:spPr>
      </p:pic>
      <p:sp>
        <p:nvSpPr>
          <p:cNvPr id="4" name="Text 1"/>
          <p:cNvSpPr txBox="1"/>
          <p:nvPr/>
        </p:nvSpPr>
        <p:spPr>
          <a:xfrm>
            <a:off x="4790049" y="1526346"/>
            <a:ext cx="4023360" cy="2461846"/>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Batteries &amp; pesticides: 100 % caught</a:t>
            </a:r>
            <a:endParaRPr lang="en-US" sz="1300" dirty="0"/>
          </a:p>
          <a:p>
            <a:pPr marL="177800" indent="-177800">
              <a:spcAft>
                <a:spcPts val="900"/>
              </a:spcAft>
              <a:buSzPct val="100000"/>
              <a:buChar char="•"/>
            </a:pPr>
            <a:r>
              <a:rPr lang="en-US" sz="1300" dirty="0">
                <a:solidFill>
                  <a:schemeClr val="tx1"/>
                </a:solidFill>
              </a:rPr>
              <a:t>Paints: 3 of 12 missed · e-waste: 3 of 27 missed</a:t>
            </a:r>
            <a:endParaRPr lang="en-US" sz="1300" dirty="0"/>
          </a:p>
          <a:p>
            <a:pPr marL="177800" indent="-177800">
              <a:spcAft>
                <a:spcPts val="900"/>
              </a:spcAft>
              <a:buSzPct val="100000"/>
              <a:buChar char="•"/>
            </a:pPr>
            <a:r>
              <a:rPr lang="en-US" sz="1300" dirty="0">
                <a:solidFill>
                  <a:schemeClr val="tx1"/>
                </a:solidFill>
              </a:rPr>
              <a:t>All 6 went to Organic or Recyclable – a paint tin looks like a food can, a paint bottle like a plastic bottle</a:t>
            </a:r>
            <a:endParaRPr lang="en-US" sz="1300" dirty="0"/>
          </a:p>
          <a:p>
            <a:pPr marL="177800" indent="-177800">
              <a:spcAft>
                <a:spcPts val="900"/>
              </a:spcAft>
              <a:buSzPct val="100000"/>
              <a:buChar char="•"/>
            </a:pPr>
            <a:r>
              <a:rPr lang="en-US" sz="1300" dirty="0">
                <a:solidFill>
                  <a:schemeClr val="tx1"/>
                </a:solidFill>
              </a:rPr>
              <a:t>4 of the 6 misses had low confidence (&lt; 0.55) → a rule "if unsure, ask a human" would have caught them</a:t>
            </a:r>
            <a:endParaRPr lang="en-US" sz="1300" dirty="0"/>
          </a:p>
          <a:p>
            <a:pPr marL="177800" indent="-177800">
              <a:spcAft>
                <a:spcPts val="900"/>
              </a:spcAft>
              <a:buSzPct val="100000"/>
              <a:buChar char="•"/>
            </a:pPr>
            <a:r>
              <a:rPr lang="en-US" sz="1300" dirty="0">
                <a:solidFill>
                  <a:schemeClr val="tx1"/>
                </a:solidFill>
              </a:rPr>
              <a:t>Image-quality test (blur / dark / JPEG on the same photos): accuracy dropped at most 2.2 points</a:t>
            </a:r>
            <a:endParaRPr lang="en-US" sz="13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Live demo</a:t>
            </a:r>
            <a:endParaRPr lang="en-US" sz="3000" dirty="0"/>
          </a:p>
        </p:txBody>
      </p:sp>
      <p:pic>
        <p:nvPicPr>
          <p:cNvPr id="3" name="Image 0" descr="/home/claude/smart-waste-vit/presentation/demo_tyre_crop.png"/>
          <p:cNvPicPr>
            <a:picLocks noChangeAspect="1"/>
          </p:cNvPicPr>
          <p:nvPr/>
        </p:nvPicPr>
        <p:blipFill>
          <a:blip r:embed="rId3"/>
          <a:stretch>
            <a:fillRect/>
          </a:stretch>
        </p:blipFill>
        <p:spPr>
          <a:xfrm>
            <a:off x="351692" y="1212459"/>
            <a:ext cx="3566160" cy="2718582"/>
          </a:xfrm>
          <a:prstGeom prst="rect">
            <a:avLst/>
          </a:prstGeom>
        </p:spPr>
      </p:pic>
      <p:sp>
        <p:nvSpPr>
          <p:cNvPr id="4" name="Text 1"/>
          <p:cNvSpPr txBox="1"/>
          <p:nvPr/>
        </p:nvSpPr>
        <p:spPr>
          <a:xfrm>
            <a:off x="4297680" y="1519310"/>
            <a:ext cx="4389120" cy="22860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Upload any photo in Colab → class, confidence, and disposal advice</a:t>
            </a:r>
            <a:endParaRPr lang="en-US" sz="1400" dirty="0"/>
          </a:p>
          <a:p>
            <a:pPr marL="177800" indent="-177800">
              <a:spcAft>
                <a:spcPts val="900"/>
              </a:spcAft>
              <a:buSzPct val="100000"/>
              <a:buChar char="•"/>
            </a:pPr>
            <a:r>
              <a:rPr lang="en-US" sz="1400" dirty="0">
                <a:solidFill>
                  <a:schemeClr val="tx1"/>
                </a:solidFill>
              </a:rPr>
              <a:t>Example: a tyre – not in any of the 4 classes – came out 66 % Recyclable / 20 % Hazardous and was flagged for human check</a:t>
            </a:r>
            <a:endParaRPr lang="en-US" sz="1400" dirty="0"/>
          </a:p>
          <a:p>
            <a:pPr marL="177800" indent="-177800">
              <a:spcAft>
                <a:spcPts val="900"/>
              </a:spcAft>
              <a:buSzPct val="100000"/>
              <a:buChar char="•"/>
            </a:pPr>
            <a:r>
              <a:rPr lang="en-US" sz="1400" dirty="0">
                <a:solidFill>
                  <a:schemeClr val="tx1"/>
                </a:solidFill>
              </a:rPr>
              <a:t>That is the behaviour I want: when unsure, say so</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buNone/>
            </a:pPr>
            <a:r>
              <a:rPr lang="en-US" sz="3000" b="1" dirty="0">
                <a:solidFill>
                  <a:schemeClr val="tx2"/>
                </a:solidFill>
              </a:rPr>
              <a:t>Limitations and ethics</a:t>
            </a:r>
            <a:endParaRPr lang="en-US" sz="3000" dirty="0"/>
          </a:p>
        </p:txBody>
      </p:sp>
      <p:sp>
        <p:nvSpPr>
          <p:cNvPr id="3" name="Shape 1"/>
          <p:cNvSpPr/>
          <p:nvPr/>
        </p:nvSpPr>
        <p:spPr>
          <a:xfrm>
            <a:off x="457200" y="126187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4" name="Text 2"/>
          <p:cNvSpPr txBox="1"/>
          <p:nvPr/>
        </p:nvSpPr>
        <p:spPr>
          <a:xfrm>
            <a:off x="457200" y="126187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5" name="Text 3"/>
          <p:cNvSpPr txBox="1"/>
          <p:nvPr/>
        </p:nvSpPr>
        <p:spPr>
          <a:xfrm>
            <a:off x="1005840" y="118872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Clean photos ≠ real bins</a:t>
            </a:r>
            <a:endParaRPr lang="en-US" sz="1400" dirty="0"/>
          </a:p>
          <a:p>
            <a:pPr marL="0" indent="0">
              <a:buNone/>
            </a:pPr>
            <a:r>
              <a:rPr lang="en-US" sz="1250" dirty="0">
                <a:solidFill>
                  <a:schemeClr val="tx1"/>
                </a:solidFill>
              </a:rPr>
              <a:t>Training photos are product-style; real waste is dirty, crushed and mixed</a:t>
            </a:r>
            <a:endParaRPr lang="en-US" sz="1400" dirty="0"/>
          </a:p>
        </p:txBody>
      </p:sp>
      <p:sp>
        <p:nvSpPr>
          <p:cNvPr id="6" name="Shape 4"/>
          <p:cNvSpPr/>
          <p:nvPr/>
        </p:nvSpPr>
        <p:spPr>
          <a:xfrm>
            <a:off x="457200" y="199339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7" name="Text 5"/>
          <p:cNvSpPr txBox="1"/>
          <p:nvPr/>
        </p:nvSpPr>
        <p:spPr>
          <a:xfrm>
            <a:off x="457200" y="199339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8" name="Text 6"/>
          <p:cNvSpPr txBox="1"/>
          <p:nvPr/>
        </p:nvSpPr>
        <p:spPr>
          <a:xfrm>
            <a:off x="1005840" y="192024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Only 4 hazardous types</a:t>
            </a:r>
            <a:endParaRPr lang="en-US" sz="1400" dirty="0"/>
          </a:p>
          <a:p>
            <a:pPr marL="0" indent="0">
              <a:buNone/>
            </a:pPr>
            <a:r>
              <a:rPr lang="en-US" sz="1250" dirty="0">
                <a:solidFill>
                  <a:schemeClr val="tx1"/>
                </a:solidFill>
              </a:rPr>
              <a:t>No medicines, chemicals or gas canisters – the model cannot recognise what it never saw</a:t>
            </a:r>
            <a:endParaRPr lang="en-US" sz="1400" dirty="0"/>
          </a:p>
        </p:txBody>
      </p:sp>
      <p:sp>
        <p:nvSpPr>
          <p:cNvPr id="9" name="Shape 7"/>
          <p:cNvSpPr/>
          <p:nvPr/>
        </p:nvSpPr>
        <p:spPr>
          <a:xfrm>
            <a:off x="457200" y="272491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10" name="Text 8"/>
          <p:cNvSpPr txBox="1"/>
          <p:nvPr/>
        </p:nvSpPr>
        <p:spPr>
          <a:xfrm>
            <a:off x="457200" y="272491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1" name="Text 9"/>
          <p:cNvSpPr txBox="1"/>
          <p:nvPr/>
        </p:nvSpPr>
        <p:spPr>
          <a:xfrm>
            <a:off x="1005840" y="265176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Small, uneven dataset, one run</a:t>
            </a:r>
            <a:endParaRPr lang="en-US" sz="1400" dirty="0"/>
          </a:p>
          <a:p>
            <a:pPr marL="0" indent="0">
              <a:buNone/>
            </a:pPr>
            <a:r>
              <a:rPr lang="en-US" sz="1250" dirty="0">
                <a:solidFill>
                  <a:schemeClr val="tx1"/>
                </a:solidFill>
              </a:rPr>
              <a:t>Rare subclasses (10 test images) give fragile numbers</a:t>
            </a:r>
            <a:endParaRPr lang="en-US" sz="1400" dirty="0"/>
          </a:p>
        </p:txBody>
      </p:sp>
      <p:sp>
        <p:nvSpPr>
          <p:cNvPr id="12" name="Shape 10"/>
          <p:cNvSpPr/>
          <p:nvPr/>
        </p:nvSpPr>
        <p:spPr>
          <a:xfrm>
            <a:off x="457200" y="3456432"/>
            <a:ext cx="384048" cy="384048"/>
          </a:xfrm>
          <a:prstGeom prst="ellipse">
            <a:avLst/>
          </a:prstGeom>
          <a:solidFill>
            <a:schemeClr val="accent2"/>
          </a:solidFill>
          <a:ln w="12700">
            <a:solidFill>
              <a:schemeClr val="accent2"/>
            </a:solidFill>
            <a:prstDash val="solid"/>
          </a:ln>
        </p:spPr>
        <p:txBody>
          <a:bodyPr/>
          <a:lstStyle/>
          <a:p>
            <a:endParaRPr lang="en-IN"/>
          </a:p>
        </p:txBody>
      </p:sp>
      <p:sp>
        <p:nvSpPr>
          <p:cNvPr id="13" name="Text 11"/>
          <p:cNvSpPr txBox="1"/>
          <p:nvPr/>
        </p:nvSpPr>
        <p:spPr>
          <a:xfrm>
            <a:off x="457200" y="3456432"/>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14" name="Text 12"/>
          <p:cNvSpPr txBox="1"/>
          <p:nvPr/>
        </p:nvSpPr>
        <p:spPr>
          <a:xfrm>
            <a:off x="1005840" y="3383280"/>
            <a:ext cx="7680960" cy="658368"/>
          </a:xfrm>
          <a:prstGeom prst="rect">
            <a:avLst/>
          </a:prstGeom>
          <a:noFill/>
          <a:ln/>
        </p:spPr>
        <p:txBody>
          <a:bodyPr wrap="square" lIns="0" tIns="0" rIns="0" bIns="0" rtlCol="0" anchor="ctr"/>
          <a:lstStyle/>
          <a:p>
            <a:pPr marL="0" indent="0">
              <a:buNone/>
            </a:pPr>
            <a:r>
              <a:rPr lang="en-US" sz="1400" b="1" dirty="0">
                <a:solidFill>
                  <a:schemeClr val="tx2"/>
                </a:solidFill>
              </a:rPr>
              <a:t>Unknown origin of photos</a:t>
            </a:r>
            <a:endParaRPr lang="en-US" sz="1400" dirty="0"/>
          </a:p>
          <a:p>
            <a:pPr marL="0" indent="0">
              <a:buNone/>
            </a:pPr>
            <a:r>
              <a:rPr lang="en-US" sz="1250" dirty="0">
                <a:solidFill>
                  <a:schemeClr val="tx1"/>
                </a:solidFill>
              </a:rPr>
              <a:t>Packaging and recycling rules differ by country – bias cannot be checked</a:t>
            </a:r>
            <a:endParaRPr lang="en-US" sz="1400" dirty="0"/>
          </a:p>
        </p:txBody>
      </p:sp>
      <p:sp>
        <p:nvSpPr>
          <p:cNvPr id="15" name="Shape 13"/>
          <p:cNvSpPr/>
          <p:nvPr/>
        </p:nvSpPr>
        <p:spPr>
          <a:xfrm>
            <a:off x="457200" y="4187952"/>
            <a:ext cx="384048" cy="384048"/>
          </a:xfrm>
          <a:prstGeom prst="ellipse">
            <a:avLst/>
          </a:prstGeom>
          <a:solidFill>
            <a:schemeClr val="accent3"/>
          </a:solidFill>
          <a:ln w="12700">
            <a:solidFill>
              <a:schemeClr val="accent3"/>
            </a:solidFill>
            <a:prstDash val="solid"/>
          </a:ln>
        </p:spPr>
        <p:txBody>
          <a:bodyPr/>
          <a:lstStyle/>
          <a:p>
            <a:endParaRPr lang="en-IN"/>
          </a:p>
        </p:txBody>
      </p:sp>
      <p:sp>
        <p:nvSpPr>
          <p:cNvPr id="16" name="Text 14"/>
          <p:cNvSpPr txBox="1"/>
          <p:nvPr/>
        </p:nvSpPr>
        <p:spPr>
          <a:xfrm>
            <a:off x="457200" y="418795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17" name="Text 15"/>
          <p:cNvSpPr txBox="1"/>
          <p:nvPr/>
        </p:nvSpPr>
        <p:spPr>
          <a:xfrm>
            <a:off x="1005840" y="4114800"/>
            <a:ext cx="7680960" cy="658368"/>
          </a:xfrm>
          <a:prstGeom prst="rect">
            <a:avLst/>
          </a:prstGeom>
          <a:noFill/>
          <a:ln/>
        </p:spPr>
        <p:txBody>
          <a:bodyPr wrap="square" lIns="0" tIns="0" rIns="0" bIns="0" rtlCol="0" anchor="ctr"/>
          <a:lstStyle/>
          <a:p>
            <a:pPr marL="0" indent="0">
              <a:buNone/>
            </a:pPr>
            <a:r>
              <a:rPr lang="en-US" sz="1400" b="1" dirty="0">
                <a:solidFill>
                  <a:schemeClr val="accent3"/>
                </a:solidFill>
              </a:rPr>
              <a:t>Must assist humans, not replace them</a:t>
            </a:r>
            <a:endParaRPr lang="en-US" sz="1400" dirty="0"/>
          </a:p>
          <a:p>
            <a:pPr marL="0" indent="0">
              <a:buNone/>
            </a:pPr>
            <a:r>
              <a:rPr lang="en-US" sz="1250" dirty="0">
                <a:solidFill>
                  <a:schemeClr val="tx1"/>
                </a:solidFill>
              </a:rPr>
              <a:t>A 10 % hazardous miss rate is too high for unsupervised use – "when unsure, treat as hazardous"</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11480"/>
            <a:ext cx="7863840" cy="640080"/>
          </a:xfrm>
          <a:prstGeom prst="rect">
            <a:avLst/>
          </a:prstGeom>
          <a:noFill/>
          <a:ln/>
        </p:spPr>
        <p:txBody>
          <a:bodyPr wrap="square" lIns="0" tIns="0" rIns="0" bIns="0" rtlCol="0" anchor="ctr"/>
          <a:lstStyle/>
          <a:p>
            <a:pPr marL="0" indent="0">
              <a:buNone/>
            </a:pPr>
            <a:r>
              <a:rPr lang="en-US" sz="3400" b="1" dirty="0">
                <a:solidFill>
                  <a:schemeClr val="bg1"/>
                </a:solidFill>
              </a:rPr>
              <a:t>Conclusion</a:t>
            </a:r>
            <a:endParaRPr lang="en-US" sz="3400" dirty="0"/>
          </a:p>
        </p:txBody>
      </p:sp>
      <p:sp>
        <p:nvSpPr>
          <p:cNvPr id="3" name="Shape 1"/>
          <p:cNvSpPr/>
          <p:nvPr/>
        </p:nvSpPr>
        <p:spPr>
          <a:xfrm>
            <a:off x="640080" y="1188720"/>
            <a:ext cx="3749040" cy="2834640"/>
          </a:xfrm>
          <a:prstGeom prst="roundRect">
            <a:avLst>
              <a:gd name="adj" fmla="val 2581"/>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804672" y="1298448"/>
            <a:ext cx="3419856" cy="365760"/>
          </a:xfrm>
          <a:prstGeom prst="rect">
            <a:avLst/>
          </a:prstGeom>
          <a:noFill/>
          <a:ln/>
        </p:spPr>
        <p:txBody>
          <a:bodyPr wrap="square" lIns="0" tIns="0" rIns="0" bIns="0" rtlCol="0" anchor="ctr"/>
          <a:lstStyle/>
          <a:p>
            <a:pPr marL="0" indent="0">
              <a:buNone/>
            </a:pPr>
            <a:r>
              <a:rPr lang="en-US" sz="1500" b="1" dirty="0">
                <a:solidFill>
                  <a:schemeClr val="tx2"/>
                </a:solidFill>
              </a:rPr>
              <a:t>What I found</a:t>
            </a:r>
            <a:endParaRPr lang="en-US" sz="1500" dirty="0"/>
          </a:p>
        </p:txBody>
      </p:sp>
      <p:sp>
        <p:nvSpPr>
          <p:cNvPr id="5" name="Text 3"/>
          <p:cNvSpPr txBox="1"/>
          <p:nvPr/>
        </p:nvSpPr>
        <p:spPr>
          <a:xfrm>
            <a:off x="804672" y="1664208"/>
            <a:ext cx="3419856" cy="2267712"/>
          </a:xfrm>
          <a:prstGeom prst="rect">
            <a:avLst/>
          </a:prstGeom>
          <a:noFill/>
          <a:ln/>
        </p:spPr>
        <p:txBody>
          <a:bodyPr wrap="square" lIns="0" tIns="0" rIns="0" bIns="0" rtlCol="0" anchor="t"/>
          <a:lstStyle/>
          <a:p>
            <a:pPr marL="0" indent="0">
              <a:buNone/>
            </a:pPr>
            <a:r>
              <a:rPr lang="en-US" sz="1250" dirty="0">
                <a:solidFill>
                  <a:schemeClr val="tx1"/>
                </a:solidFill>
              </a:rPr>
              <a:t>• A pretrained ViT fine-tuned in 5 minutes reaches 92.6 % accuracy on waste photos</a:t>
            </a:r>
            <a:endParaRPr lang="en-US" sz="1250" dirty="0"/>
          </a:p>
          <a:p>
            <a:pPr marL="0" indent="0">
              <a:buNone/>
            </a:pPr>
            <a:r>
              <a:rPr lang="en-US" sz="1250" dirty="0">
                <a:solidFill>
                  <a:schemeClr val="tx1"/>
                </a:solidFill>
              </a:rPr>
              <a:t>• It still misses about 1 in 10 hazardous items – mostly paints and e-waste that look like normal packaging</a:t>
            </a:r>
            <a:endParaRPr lang="en-US" sz="1250" dirty="0"/>
          </a:p>
          <a:p>
            <a:pPr marL="0" indent="0">
              <a:buNone/>
            </a:pPr>
            <a:r>
              <a:rPr lang="en-US" sz="1250" dirty="0">
                <a:solidFill>
                  <a:schemeClr val="tx1"/>
                </a:solidFill>
              </a:rPr>
              <a:t>• Image quality changes the kind of error, not just the amount</a:t>
            </a:r>
            <a:endParaRPr lang="en-US" sz="1250" dirty="0"/>
          </a:p>
          <a:p>
            <a:pPr marL="0" indent="0">
              <a:buNone/>
            </a:pPr>
            <a:endParaRPr lang="en-US" sz="1250" dirty="0"/>
          </a:p>
          <a:p>
            <a:pPr marL="0" indent="0">
              <a:buNone/>
            </a:pPr>
            <a:r>
              <a:rPr lang="en-US" sz="1250" dirty="0">
                <a:solidFill>
                  <a:schemeClr val="tx1"/>
                </a:solidFill>
              </a:rPr>
              <a:t>Answer: reliable enough to assist, not to decide alone</a:t>
            </a:r>
            <a:endParaRPr lang="en-US" sz="1250" dirty="0"/>
          </a:p>
        </p:txBody>
      </p:sp>
      <p:sp>
        <p:nvSpPr>
          <p:cNvPr id="6" name="Shape 4"/>
          <p:cNvSpPr/>
          <p:nvPr/>
        </p:nvSpPr>
        <p:spPr>
          <a:xfrm>
            <a:off x="4754880" y="1188720"/>
            <a:ext cx="3749040" cy="2834640"/>
          </a:xfrm>
          <a:prstGeom prst="roundRect">
            <a:avLst>
              <a:gd name="adj" fmla="val 2581"/>
            </a:avLst>
          </a:prstGeom>
          <a:solidFill>
            <a:schemeClr val="bg2"/>
          </a:solidFill>
          <a:ln w="12700">
            <a:solidFill>
              <a:schemeClr val="bg2"/>
            </a:solidFill>
            <a:prstDash val="solid"/>
          </a:ln>
        </p:spPr>
        <p:txBody>
          <a:bodyPr/>
          <a:lstStyle/>
          <a:p>
            <a:endParaRPr lang="en-IN"/>
          </a:p>
        </p:txBody>
      </p:sp>
      <p:sp>
        <p:nvSpPr>
          <p:cNvPr id="7" name="Text 5"/>
          <p:cNvSpPr txBox="1"/>
          <p:nvPr/>
        </p:nvSpPr>
        <p:spPr>
          <a:xfrm>
            <a:off x="4919472" y="1298448"/>
            <a:ext cx="3419856" cy="365760"/>
          </a:xfrm>
          <a:prstGeom prst="rect">
            <a:avLst/>
          </a:prstGeom>
          <a:noFill/>
          <a:ln/>
        </p:spPr>
        <p:txBody>
          <a:bodyPr wrap="square" lIns="0" tIns="0" rIns="0" bIns="0" rtlCol="0" anchor="ctr"/>
          <a:lstStyle/>
          <a:p>
            <a:pPr marL="0" indent="0">
              <a:buNone/>
            </a:pPr>
            <a:r>
              <a:rPr lang="en-US" sz="1500" b="1" dirty="0">
                <a:solidFill>
                  <a:schemeClr val="tx2"/>
                </a:solidFill>
              </a:rPr>
              <a:t>What I would do next</a:t>
            </a:r>
            <a:endParaRPr lang="en-US" sz="1500" dirty="0"/>
          </a:p>
        </p:txBody>
      </p:sp>
      <p:sp>
        <p:nvSpPr>
          <p:cNvPr id="8" name="Text 6"/>
          <p:cNvSpPr txBox="1"/>
          <p:nvPr/>
        </p:nvSpPr>
        <p:spPr>
          <a:xfrm>
            <a:off x="4919472" y="1664208"/>
            <a:ext cx="3419856" cy="2267712"/>
          </a:xfrm>
          <a:prstGeom prst="rect">
            <a:avLst/>
          </a:prstGeom>
          <a:noFill/>
          <a:ln/>
        </p:spPr>
        <p:txBody>
          <a:bodyPr wrap="square" lIns="0" tIns="0" rIns="0" bIns="0" rtlCol="0" anchor="t"/>
          <a:lstStyle/>
          <a:p>
            <a:pPr marL="0" indent="0">
              <a:buNone/>
            </a:pPr>
            <a:r>
              <a:rPr lang="en-US" sz="1250" dirty="0">
                <a:solidFill>
                  <a:schemeClr val="tx1"/>
                </a:solidFill>
              </a:rPr>
              <a:t>• Make the model cautious: lower the threshold for "Hazardous"</a:t>
            </a:r>
            <a:endParaRPr lang="en-US" sz="1250" dirty="0"/>
          </a:p>
          <a:p>
            <a:pPr marL="0" indent="0">
              <a:buNone/>
            </a:pPr>
            <a:r>
              <a:rPr lang="en-US" sz="1250" dirty="0">
                <a:solidFill>
                  <a:schemeClr val="tx1"/>
                </a:solidFill>
              </a:rPr>
              <a:t>• Train with blurred / dark / compressed images</a:t>
            </a:r>
            <a:endParaRPr lang="en-US" sz="1250" dirty="0"/>
          </a:p>
          <a:p>
            <a:pPr marL="0" indent="0">
              <a:buNone/>
            </a:pPr>
            <a:r>
              <a:rPr lang="en-US" sz="1250" dirty="0">
                <a:solidFill>
                  <a:schemeClr val="tx1"/>
                </a:solidFill>
              </a:rPr>
              <a:t>• Read labels (OCR) and hazard symbols</a:t>
            </a:r>
            <a:endParaRPr lang="en-US" sz="1250" dirty="0"/>
          </a:p>
          <a:p>
            <a:pPr marL="0" indent="0">
              <a:buNone/>
            </a:pPr>
            <a:r>
              <a:rPr lang="en-US" sz="1250" dirty="0">
                <a:solidFill>
                  <a:schemeClr val="tx1"/>
                </a:solidFill>
              </a:rPr>
              <a:t>• Collect real bin-camera photos with multiple items</a:t>
            </a:r>
            <a:endParaRPr lang="en-US" sz="1250" dirty="0"/>
          </a:p>
          <a:p>
            <a:pPr marL="0" indent="0">
              <a:buNone/>
            </a:pPr>
            <a:r>
              <a:rPr lang="en-US" sz="1250" dirty="0">
                <a:solidFill>
                  <a:schemeClr val="tx1"/>
                </a:solidFill>
              </a:rPr>
              <a:t>• Compare with a CNN and repeat with more seeds</a:t>
            </a:r>
            <a:endParaRPr lang="en-US" sz="1250" dirty="0"/>
          </a:p>
        </p:txBody>
      </p:sp>
      <p:sp>
        <p:nvSpPr>
          <p:cNvPr id="9" name="Text 7"/>
          <p:cNvSpPr txBox="1"/>
          <p:nvPr/>
        </p:nvSpPr>
        <p:spPr>
          <a:xfrm>
            <a:off x="640080" y="4434840"/>
            <a:ext cx="7519182" cy="457200"/>
          </a:xfrm>
          <a:prstGeom prst="rect">
            <a:avLst/>
          </a:prstGeom>
          <a:noFill/>
          <a:ln/>
        </p:spPr>
        <p:txBody>
          <a:bodyPr wrap="square" lIns="0" tIns="0" rIns="0" bIns="0" rtlCol="0" anchor="ctr"/>
          <a:lstStyle/>
          <a:p>
            <a:pPr marL="0" indent="0" algn="ctr">
              <a:buNone/>
            </a:pPr>
            <a:r>
              <a:rPr lang="en-US" sz="1300" dirty="0">
                <a:solidFill>
                  <a:schemeClr val="accent2"/>
                </a:solidFill>
              </a:rPr>
              <a:t>·        Thank you </a:t>
            </a:r>
            <a:endParaRPr lang="en-US" sz="1300" dirty="0"/>
          </a:p>
        </p:txBody>
      </p:sp>
    </p:spTree>
  </p:cSld>
  <p:clrMapOvr>
    <a:masterClrMapping/>
  </p:clrMapOvr>
</p:sld>
</file>

<file path=ppt/theme/theme1.xml><?xml version="1.0" encoding="utf-8"?>
<a:theme xmlns:a="http://schemas.openxmlformats.org/drawingml/2006/main" name="Smart Waste ViT">
  <a:themeElements>
    <a:clrScheme name="Smart Waste ViT">
      <a:dk1>
        <a:srgbClr val="2E2E2E"/>
      </a:dk1>
      <a:lt1>
        <a:srgbClr val="FFFFFF"/>
      </a:lt1>
      <a:dk2>
        <a:srgbClr val="1F4D3A"/>
      </a:dk2>
      <a:lt2>
        <a:srgbClr val="EEF5F0"/>
      </a:lt2>
      <a:accent1>
        <a:srgbClr val="1F4D3A"/>
      </a:accent1>
      <a:accent2>
        <a:srgbClr val="9FD9B8"/>
      </a:accent2>
      <a:accent3>
        <a:srgbClr val="D97B29"/>
      </a:accent3>
      <a:accent4>
        <a:srgbClr val="5B8C6E"/>
      </a:accent4>
      <a:accent5>
        <a:srgbClr val="C9C9C9"/>
      </a:accent5>
      <a:accent6>
        <a:srgbClr val="7A7A7A"/>
      </a:accent6>
      <a:hlink>
        <a:srgbClr val="1F4D3A"/>
      </a:hlink>
      <a:folHlink>
        <a:srgbClr val="5B8C6E"/>
      </a:folHlink>
    </a:clrScheme>
    <a:fontScheme name="Smart Waste V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835</TotalTime>
  <Words>1752</Words>
  <Application>Microsoft Office PowerPoint</Application>
  <PresentationFormat>On-screen Show (16:9)</PresentationFormat>
  <Paragraphs>165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Smart Waste ViT</vt:lpstr>
      <vt:lpstr>Smart Waste Classification Using Vision Transformers</vt:lpstr>
      <vt:lpstr>What is Smart Waste Classification?</vt:lpstr>
      <vt:lpstr>Why I focused on hazardous waste</vt:lpstr>
      <vt:lpstr>Step 1 – Dataset</vt:lpstr>
      <vt:lpstr>Step 2 – Pre-processing</vt:lpstr>
      <vt:lpstr>Step 3 – The Vision Transformer</vt:lpstr>
      <vt:lpstr>Step 4 – Training</vt:lpstr>
      <vt:lpstr>Step 5 – Results on the test set</vt:lpstr>
      <vt:lpstr>Which hazardous items were missed – and why</vt:lpstr>
      <vt:lpstr>Live demo</vt:lpstr>
      <vt:lpstr>Limitations and ethics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Waste Classification Using Vision Transformers</dc:title>
  <dc:subject>PptxGenJS Presentation</dc:subject>
  <dc:creator>Shaikh Maha</dc:creator>
  <cp:lastModifiedBy>Maha Shaikh</cp:lastModifiedBy>
  <cp:revision>3</cp:revision>
  <dcterms:created xsi:type="dcterms:W3CDTF">2026-10-25T18:48:09Z</dcterms:created>
  <dcterms:modified xsi:type="dcterms:W3CDTF">2026-10-26T11:05:22Z</dcterms:modified>
</cp:coreProperties>
</file>